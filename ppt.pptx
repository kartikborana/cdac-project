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slideLayouts/slideLayout20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2" r:id="rId2"/>
    <p:sldMasterId id="2147483669" r:id="rId3"/>
  </p:sldMasterIdLst>
  <p:notesMasterIdLst>
    <p:notesMasterId r:id="rId28"/>
  </p:notesMasterIdLst>
  <p:sldIdLst>
    <p:sldId id="351" r:id="rId4"/>
    <p:sldId id="352" r:id="rId5"/>
    <p:sldId id="391" r:id="rId6"/>
    <p:sldId id="353" r:id="rId7"/>
    <p:sldId id="354" r:id="rId8"/>
    <p:sldId id="392" r:id="rId9"/>
    <p:sldId id="393" r:id="rId10"/>
    <p:sldId id="394" r:id="rId11"/>
    <p:sldId id="396" r:id="rId12"/>
    <p:sldId id="356" r:id="rId13"/>
    <p:sldId id="388" r:id="rId14"/>
    <p:sldId id="390" r:id="rId15"/>
    <p:sldId id="389" r:id="rId16"/>
    <p:sldId id="397" r:id="rId17"/>
    <p:sldId id="398" r:id="rId18"/>
    <p:sldId id="399" r:id="rId19"/>
    <p:sldId id="400" r:id="rId20"/>
    <p:sldId id="401" r:id="rId21"/>
    <p:sldId id="402" r:id="rId22"/>
    <p:sldId id="403" r:id="rId23"/>
    <p:sldId id="404" r:id="rId24"/>
    <p:sldId id="405" r:id="rId25"/>
    <p:sldId id="406" r:id="rId26"/>
    <p:sldId id="395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144" autoAdjust="0"/>
    <p:restoredTop sz="96196" autoAdjust="0"/>
  </p:normalViewPr>
  <p:slideViewPr>
    <p:cSldViewPr snapToGrid="0" showGuides="1">
      <p:cViewPr>
        <p:scale>
          <a:sx n="100" d="100"/>
          <a:sy n="100" d="100"/>
        </p:scale>
        <p:origin x="-130" y="-499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AAF045-FEF6-43EA-9CDC-C84FC3F85E9C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2F1279-6CE4-4169-83D3-4483097B69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50806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1" y="2130427"/>
            <a:ext cx="103632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1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599" y="6356352"/>
            <a:ext cx="2844800" cy="365125"/>
          </a:xfrm>
          <a:prstGeom prst="rect">
            <a:avLst/>
          </a:prstGeom>
        </p:spPr>
        <p:txBody>
          <a:bodyPr/>
          <a:lstStyle/>
          <a:p>
            <a:fld id="{D31D19E3-68ED-4BEA-B59C-2A66F0BA1200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1" y="6356352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1" y="6356352"/>
            <a:ext cx="2844800" cy="365125"/>
          </a:xfrm>
          <a:prstGeom prst="rect">
            <a:avLst/>
          </a:prstGeom>
        </p:spPr>
        <p:txBody>
          <a:bodyPr/>
          <a:lstStyle/>
          <a:p>
            <a:fld id="{C0D29EB6-B318-4A1D-B7CC-D5611AD205F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am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 dirty="0"/>
              <a:t>Our Team LAYOUT</a:t>
            </a:r>
          </a:p>
        </p:txBody>
      </p:sp>
      <p:sp>
        <p:nvSpPr>
          <p:cNvPr id="4" name="그림 개체 틀 2"/>
          <p:cNvSpPr>
            <a:spLocks noGrp="1"/>
          </p:cNvSpPr>
          <p:nvPr>
            <p:ph type="pic" sz="quarter" idx="14" hasCustomPrompt="1"/>
          </p:nvPr>
        </p:nvSpPr>
        <p:spPr>
          <a:xfrm>
            <a:off x="905524" y="1837041"/>
            <a:ext cx="2268000" cy="1986288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solidFill>
              <a:schemeClr val="accent1"/>
            </a:solidFill>
          </a:ln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9" name="그림 개체 틀 2"/>
          <p:cNvSpPr>
            <a:spLocks noGrp="1"/>
          </p:cNvSpPr>
          <p:nvPr>
            <p:ph type="pic" sz="quarter" idx="33" hasCustomPrompt="1"/>
          </p:nvPr>
        </p:nvSpPr>
        <p:spPr>
          <a:xfrm>
            <a:off x="3603313" y="1837041"/>
            <a:ext cx="2268000" cy="1986288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solidFill>
              <a:schemeClr val="accent2"/>
            </a:solidFill>
          </a:ln>
        </p:spPr>
        <p:txBody>
          <a:bodyPr anchor="ctr"/>
          <a:lstStyle>
            <a:lvl1pPr algn="ctr">
              <a:lnSpc>
                <a:spcPct val="100000"/>
              </a:lnSpc>
              <a:def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indent="0" algn="ctr">
              <a:buNone/>
            </a:pPr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14" name="그림 개체 틀 2"/>
          <p:cNvSpPr>
            <a:spLocks noGrp="1"/>
          </p:cNvSpPr>
          <p:nvPr>
            <p:ph type="pic" sz="quarter" idx="38" hasCustomPrompt="1"/>
          </p:nvPr>
        </p:nvSpPr>
        <p:spPr>
          <a:xfrm>
            <a:off x="6301102" y="1837041"/>
            <a:ext cx="2268000" cy="1986288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solidFill>
              <a:schemeClr val="accent3"/>
            </a:solidFill>
          </a:ln>
        </p:spPr>
        <p:txBody>
          <a:bodyPr anchor="ctr"/>
          <a:lstStyle>
            <a:lvl1pPr algn="ctr">
              <a:lnSpc>
                <a:spcPct val="100000"/>
              </a:lnSpc>
              <a:def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indent="0" algn="ctr">
              <a:buNone/>
            </a:pPr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15" name="그림 개체 틀 2"/>
          <p:cNvSpPr>
            <a:spLocks noGrp="1"/>
          </p:cNvSpPr>
          <p:nvPr>
            <p:ph type="pic" sz="quarter" idx="43" hasCustomPrompt="1"/>
          </p:nvPr>
        </p:nvSpPr>
        <p:spPr>
          <a:xfrm>
            <a:off x="9016308" y="1837041"/>
            <a:ext cx="2268000" cy="1986288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solidFill>
              <a:schemeClr val="accent4"/>
            </a:solidFill>
          </a:ln>
        </p:spPr>
        <p:txBody>
          <a:bodyPr anchor="ctr"/>
          <a:lstStyle>
            <a:lvl1pPr algn="ctr">
              <a:lnSpc>
                <a:spcPct val="100000"/>
              </a:lnSpc>
              <a:def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indent="0" algn="ctr">
              <a:buNone/>
            </a:pPr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3397776" y="2717708"/>
            <a:ext cx="8794226" cy="2404870"/>
          </a:xfrm>
          <a:prstGeom prst="rect">
            <a:avLst/>
          </a:prstGeom>
          <a:solidFill>
            <a:schemeClr val="accent4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grpSp>
        <p:nvGrpSpPr>
          <p:cNvPr id="3" name="Group 3"/>
          <p:cNvGrpSpPr/>
          <p:nvPr userDrawn="1"/>
        </p:nvGrpSpPr>
        <p:grpSpPr>
          <a:xfrm>
            <a:off x="733478" y="1571013"/>
            <a:ext cx="2664296" cy="4683693"/>
            <a:chOff x="445712" y="1449040"/>
            <a:chExt cx="2113018" cy="3924176"/>
          </a:xfrm>
        </p:grpSpPr>
        <p:sp>
          <p:nvSpPr>
            <p:cNvPr id="4" name="Rounded Rectangle 4"/>
            <p:cNvSpPr/>
            <p:nvPr userDrawn="1"/>
          </p:nvSpPr>
          <p:spPr>
            <a:xfrm>
              <a:off x="445712" y="1449040"/>
              <a:ext cx="2113018" cy="3924176"/>
            </a:xfrm>
            <a:prstGeom prst="roundRect">
              <a:avLst>
                <a:gd name="adj" fmla="val 13580"/>
              </a:avLst>
            </a:prstGeom>
            <a:solidFill>
              <a:srgbClr val="262626"/>
            </a:solidFill>
            <a:ln w="88900">
              <a:noFill/>
            </a:ln>
            <a:effectLst/>
            <a:scene3d>
              <a:camera prst="perspectiveFront"/>
              <a:lightRig rig="threePt" dir="t"/>
            </a:scene3d>
            <a:sp3d prstMaterial="plastic">
              <a:bevelT w="127000" h="50800"/>
              <a:bevelB w="127000" h="2540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  <p:sp>
          <p:nvSpPr>
            <p:cNvPr id="5" name="Rectangle 5"/>
            <p:cNvSpPr/>
            <p:nvPr userDrawn="1"/>
          </p:nvSpPr>
          <p:spPr>
            <a:xfrm>
              <a:off x="1379920" y="1650572"/>
              <a:ext cx="216024" cy="34350"/>
            </a:xfrm>
            <a:prstGeom prst="rect">
              <a:avLst/>
            </a:prstGeom>
            <a:solidFill>
              <a:srgbClr val="B0B0B0"/>
            </a:solidFill>
            <a:ln w="889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  <p:grpSp>
          <p:nvGrpSpPr>
            <p:cNvPr id="6" name="Group 6"/>
            <p:cNvGrpSpPr/>
            <p:nvPr userDrawn="1"/>
          </p:nvGrpSpPr>
          <p:grpSpPr>
            <a:xfrm>
              <a:off x="1407705" y="5045834"/>
              <a:ext cx="211967" cy="211967"/>
              <a:chOff x="1549420" y="5712364"/>
              <a:chExt cx="312583" cy="312583"/>
            </a:xfrm>
          </p:grpSpPr>
          <p:sp>
            <p:nvSpPr>
              <p:cNvPr id="7" name="Oval 7"/>
              <p:cNvSpPr/>
              <p:nvPr userDrawn="1"/>
            </p:nvSpPr>
            <p:spPr>
              <a:xfrm>
                <a:off x="1549420" y="5712364"/>
                <a:ext cx="312583" cy="312583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1">
                      <a:lumMod val="94000"/>
                      <a:lumOff val="6000"/>
                    </a:schemeClr>
                  </a:gs>
                  <a:gs pos="56000">
                    <a:schemeClr val="tx1">
                      <a:lumMod val="65000"/>
                      <a:lumOff val="35000"/>
                    </a:schemeClr>
                  </a:gs>
                  <a:gs pos="91000">
                    <a:schemeClr val="tx1">
                      <a:lumMod val="50000"/>
                      <a:lumOff val="50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0800000" scaled="1"/>
                <a:tileRect/>
              </a:gradFill>
              <a:ln w="0">
                <a:solidFill>
                  <a:srgbClr val="262626"/>
                </a:solidFill>
              </a:ln>
              <a:scene3d>
                <a:camera prst="perspectiveFront"/>
                <a:lightRig rig="threePt" dir="t"/>
              </a:scene3d>
              <a:sp3d>
                <a:bevelT w="63500" h="12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00"/>
              </a:p>
            </p:txBody>
          </p:sp>
          <p:sp>
            <p:nvSpPr>
              <p:cNvPr id="8" name="Rounded Rectangle 8"/>
              <p:cNvSpPr/>
              <p:nvPr userDrawn="1"/>
            </p:nvSpPr>
            <p:spPr>
              <a:xfrm>
                <a:off x="1634225" y="5796647"/>
                <a:ext cx="142969" cy="144016"/>
              </a:xfrm>
              <a:prstGeom prst="roundRect">
                <a:avLst/>
              </a:prstGeom>
              <a:solidFill>
                <a:srgbClr val="737373"/>
              </a:solidFill>
              <a:ln w="6350">
                <a:solidFill>
                  <a:srgbClr val="B0B0B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00"/>
              </a:p>
            </p:txBody>
          </p:sp>
        </p:grpSp>
      </p:grpSp>
      <p:sp>
        <p:nvSpPr>
          <p:cNvPr id="9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921396" y="1982583"/>
            <a:ext cx="2288460" cy="3753075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 userDrawn="1"/>
        </p:nvGrpSpPr>
        <p:grpSpPr>
          <a:xfrm>
            <a:off x="3095065" y="1780189"/>
            <a:ext cx="6001870" cy="3297621"/>
            <a:chOff x="-548507" y="477868"/>
            <a:chExt cx="11570449" cy="6357177"/>
          </a:xfrm>
        </p:grpSpPr>
        <p:sp>
          <p:nvSpPr>
            <p:cNvPr id="3" name="Freeform: Shape 2"/>
            <p:cNvSpPr/>
            <p:nvPr/>
          </p:nvSpPr>
          <p:spPr>
            <a:xfrm>
              <a:off x="-482765" y="6440599"/>
              <a:ext cx="11438966" cy="394446"/>
            </a:xfrm>
            <a:custGeom>
              <a:avLst/>
              <a:gdLst>
                <a:gd name="connsiteX0" fmla="*/ 1605439 w 1657350"/>
                <a:gd name="connsiteY0" fmla="*/ 54769 h 57150"/>
                <a:gd name="connsiteX1" fmla="*/ 1652111 w 1657350"/>
                <a:gd name="connsiteY1" fmla="*/ 22384 h 57150"/>
                <a:gd name="connsiteX2" fmla="*/ 1652111 w 1657350"/>
                <a:gd name="connsiteY2" fmla="*/ 22384 h 57150"/>
                <a:gd name="connsiteX3" fmla="*/ 1636871 w 1657350"/>
                <a:gd name="connsiteY3" fmla="*/ 7144 h 57150"/>
                <a:gd name="connsiteX4" fmla="*/ 44291 w 1657350"/>
                <a:gd name="connsiteY4" fmla="*/ 12859 h 57150"/>
                <a:gd name="connsiteX5" fmla="*/ 23336 w 1657350"/>
                <a:gd name="connsiteY5" fmla="*/ 12859 h 57150"/>
                <a:gd name="connsiteX6" fmla="*/ 7144 w 1657350"/>
                <a:gd name="connsiteY6" fmla="*/ 26194 h 57150"/>
                <a:gd name="connsiteX7" fmla="*/ 7144 w 1657350"/>
                <a:gd name="connsiteY7" fmla="*/ 26194 h 57150"/>
                <a:gd name="connsiteX8" fmla="*/ 50959 w 1657350"/>
                <a:gd name="connsiteY8" fmla="*/ 53816 h 57150"/>
                <a:gd name="connsiteX9" fmla="*/ 51911 w 1657350"/>
                <a:gd name="connsiteY9" fmla="*/ 54769 h 57150"/>
                <a:gd name="connsiteX10" fmla="*/ 51911 w 1657350"/>
                <a:gd name="connsiteY10" fmla="*/ 54769 h 57150"/>
                <a:gd name="connsiteX11" fmla="*/ 56674 w 1657350"/>
                <a:gd name="connsiteY11" fmla="*/ 54769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57350" h="57150">
                  <a:moveTo>
                    <a:pt x="1605439" y="54769"/>
                  </a:moveTo>
                  <a:cubicBezTo>
                    <a:pt x="1605439" y="54769"/>
                    <a:pt x="1638776" y="50959"/>
                    <a:pt x="1652111" y="22384"/>
                  </a:cubicBezTo>
                  <a:lnTo>
                    <a:pt x="1652111" y="22384"/>
                  </a:lnTo>
                  <a:cubicBezTo>
                    <a:pt x="1652111" y="13811"/>
                    <a:pt x="1645444" y="7144"/>
                    <a:pt x="1636871" y="7144"/>
                  </a:cubicBezTo>
                  <a:lnTo>
                    <a:pt x="44291" y="12859"/>
                  </a:lnTo>
                  <a:lnTo>
                    <a:pt x="23336" y="12859"/>
                  </a:lnTo>
                  <a:cubicBezTo>
                    <a:pt x="14764" y="12859"/>
                    <a:pt x="7144" y="18574"/>
                    <a:pt x="7144" y="26194"/>
                  </a:cubicBezTo>
                  <a:lnTo>
                    <a:pt x="7144" y="26194"/>
                  </a:lnTo>
                  <a:cubicBezTo>
                    <a:pt x="17621" y="45244"/>
                    <a:pt x="40481" y="51911"/>
                    <a:pt x="50959" y="53816"/>
                  </a:cubicBezTo>
                  <a:lnTo>
                    <a:pt x="51911" y="54769"/>
                  </a:lnTo>
                  <a:cubicBezTo>
                    <a:pt x="51911" y="54769"/>
                    <a:pt x="51911" y="54769"/>
                    <a:pt x="51911" y="54769"/>
                  </a:cubicBezTo>
                  <a:lnTo>
                    <a:pt x="56674" y="54769"/>
                  </a:lnTo>
                </a:path>
              </a:pathLst>
            </a:custGeom>
            <a:solidFill>
              <a:srgbClr val="5F676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" name="Freeform: Shape 3"/>
            <p:cNvSpPr/>
            <p:nvPr/>
          </p:nvSpPr>
          <p:spPr>
            <a:xfrm>
              <a:off x="700575" y="477868"/>
              <a:ext cx="9072285" cy="5916709"/>
            </a:xfrm>
            <a:custGeom>
              <a:avLst/>
              <a:gdLst>
                <a:gd name="connsiteX0" fmla="*/ 1311116 w 1314450"/>
                <a:gd name="connsiteY0" fmla="*/ 813911 h 857250"/>
                <a:gd name="connsiteX1" fmla="*/ 1281589 w 1314450"/>
                <a:gd name="connsiteY1" fmla="*/ 852964 h 857250"/>
                <a:gd name="connsiteX2" fmla="*/ 36671 w 1314450"/>
                <a:gd name="connsiteY2" fmla="*/ 852964 h 857250"/>
                <a:gd name="connsiteX3" fmla="*/ 7144 w 1314450"/>
                <a:gd name="connsiteY3" fmla="*/ 813911 h 857250"/>
                <a:gd name="connsiteX4" fmla="*/ 7144 w 1314450"/>
                <a:gd name="connsiteY4" fmla="*/ 46196 h 857250"/>
                <a:gd name="connsiteX5" fmla="*/ 36671 w 1314450"/>
                <a:gd name="connsiteY5" fmla="*/ 7144 h 857250"/>
                <a:gd name="connsiteX6" fmla="*/ 1281589 w 1314450"/>
                <a:gd name="connsiteY6" fmla="*/ 7144 h 857250"/>
                <a:gd name="connsiteX7" fmla="*/ 1311116 w 1314450"/>
                <a:gd name="connsiteY7" fmla="*/ 46196 h 857250"/>
                <a:gd name="connsiteX8" fmla="*/ 1311116 w 1314450"/>
                <a:gd name="connsiteY8" fmla="*/ 813911 h 857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14450" h="857250">
                  <a:moveTo>
                    <a:pt x="1311116" y="813911"/>
                  </a:moveTo>
                  <a:cubicBezTo>
                    <a:pt x="1311116" y="834866"/>
                    <a:pt x="1297781" y="852964"/>
                    <a:pt x="1281589" y="852964"/>
                  </a:cubicBezTo>
                  <a:lnTo>
                    <a:pt x="36671" y="852964"/>
                  </a:lnTo>
                  <a:cubicBezTo>
                    <a:pt x="20479" y="852964"/>
                    <a:pt x="7144" y="835819"/>
                    <a:pt x="7144" y="813911"/>
                  </a:cubicBezTo>
                  <a:lnTo>
                    <a:pt x="7144" y="46196"/>
                  </a:lnTo>
                  <a:cubicBezTo>
                    <a:pt x="7144" y="25241"/>
                    <a:pt x="20479" y="7144"/>
                    <a:pt x="36671" y="7144"/>
                  </a:cubicBezTo>
                  <a:lnTo>
                    <a:pt x="1281589" y="7144"/>
                  </a:lnTo>
                  <a:cubicBezTo>
                    <a:pt x="1297781" y="7144"/>
                    <a:pt x="1311116" y="24289"/>
                    <a:pt x="1311116" y="46196"/>
                  </a:cubicBezTo>
                  <a:lnTo>
                    <a:pt x="1311116" y="813911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" name="Freeform: Shape 4"/>
            <p:cNvSpPr/>
            <p:nvPr/>
          </p:nvSpPr>
          <p:spPr>
            <a:xfrm>
              <a:off x="1088451" y="839448"/>
              <a:ext cx="8283390" cy="5062073"/>
            </a:xfrm>
            <a:custGeom>
              <a:avLst/>
              <a:gdLst>
                <a:gd name="connsiteX0" fmla="*/ 7144 w 1200150"/>
                <a:gd name="connsiteY0" fmla="*/ 7144 h 733425"/>
                <a:gd name="connsiteX1" fmla="*/ 1196816 w 1200150"/>
                <a:gd name="connsiteY1" fmla="*/ 7144 h 733425"/>
                <a:gd name="connsiteX2" fmla="*/ 1196816 w 1200150"/>
                <a:gd name="connsiteY2" fmla="*/ 730091 h 733425"/>
                <a:gd name="connsiteX3" fmla="*/ 7144 w 1200150"/>
                <a:gd name="connsiteY3" fmla="*/ 730091 h 733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0150" h="733425">
                  <a:moveTo>
                    <a:pt x="7144" y="7144"/>
                  </a:moveTo>
                  <a:lnTo>
                    <a:pt x="1196816" y="7144"/>
                  </a:lnTo>
                  <a:lnTo>
                    <a:pt x="1196816" y="730091"/>
                  </a:lnTo>
                  <a:lnTo>
                    <a:pt x="7144" y="730091"/>
                  </a:lnTo>
                  <a:close/>
                </a:path>
              </a:pathLst>
            </a:custGeom>
            <a:solidFill>
              <a:srgbClr val="F2F2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: Shape 5"/>
            <p:cNvSpPr/>
            <p:nvPr/>
          </p:nvSpPr>
          <p:spPr>
            <a:xfrm>
              <a:off x="-548507" y="6164484"/>
              <a:ext cx="11570449" cy="460187"/>
            </a:xfrm>
            <a:custGeom>
              <a:avLst/>
              <a:gdLst>
                <a:gd name="connsiteX0" fmla="*/ 50006 w 1676400"/>
                <a:gd name="connsiteY0" fmla="*/ 7144 h 66675"/>
                <a:gd name="connsiteX1" fmla="*/ 1630204 w 1676400"/>
                <a:gd name="connsiteY1" fmla="*/ 7144 h 66675"/>
                <a:gd name="connsiteX2" fmla="*/ 1672114 w 1676400"/>
                <a:gd name="connsiteY2" fmla="*/ 49054 h 66675"/>
                <a:gd name="connsiteX3" fmla="*/ 1672114 w 1676400"/>
                <a:gd name="connsiteY3" fmla="*/ 57626 h 66675"/>
                <a:gd name="connsiteX4" fmla="*/ 1656874 w 1676400"/>
                <a:gd name="connsiteY4" fmla="*/ 62389 h 66675"/>
                <a:gd name="connsiteX5" fmla="*/ 1654016 w 1676400"/>
                <a:gd name="connsiteY5" fmla="*/ 62389 h 66675"/>
                <a:gd name="connsiteX6" fmla="*/ 29051 w 1676400"/>
                <a:gd name="connsiteY6" fmla="*/ 62389 h 66675"/>
                <a:gd name="connsiteX7" fmla="*/ 21431 w 1676400"/>
                <a:gd name="connsiteY7" fmla="*/ 63341 h 66675"/>
                <a:gd name="connsiteX8" fmla="*/ 7144 w 1676400"/>
                <a:gd name="connsiteY8" fmla="*/ 55721 h 66675"/>
                <a:gd name="connsiteX9" fmla="*/ 7144 w 1676400"/>
                <a:gd name="connsiteY9" fmla="*/ 48101 h 66675"/>
                <a:gd name="connsiteX10" fmla="*/ 50006 w 1676400"/>
                <a:gd name="connsiteY10" fmla="*/ 7144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6400" h="66675">
                  <a:moveTo>
                    <a:pt x="50006" y="7144"/>
                  </a:moveTo>
                  <a:lnTo>
                    <a:pt x="1630204" y="7144"/>
                  </a:lnTo>
                  <a:cubicBezTo>
                    <a:pt x="1653064" y="7144"/>
                    <a:pt x="1672114" y="26194"/>
                    <a:pt x="1672114" y="49054"/>
                  </a:cubicBezTo>
                  <a:lnTo>
                    <a:pt x="1672114" y="57626"/>
                  </a:lnTo>
                  <a:cubicBezTo>
                    <a:pt x="1672114" y="57626"/>
                    <a:pt x="1674019" y="64294"/>
                    <a:pt x="1656874" y="62389"/>
                  </a:cubicBezTo>
                  <a:cubicBezTo>
                    <a:pt x="1655921" y="62389"/>
                    <a:pt x="1654969" y="62389"/>
                    <a:pt x="1654016" y="62389"/>
                  </a:cubicBezTo>
                  <a:lnTo>
                    <a:pt x="29051" y="62389"/>
                  </a:lnTo>
                  <a:cubicBezTo>
                    <a:pt x="26194" y="62389"/>
                    <a:pt x="24289" y="62389"/>
                    <a:pt x="21431" y="63341"/>
                  </a:cubicBezTo>
                  <a:cubicBezTo>
                    <a:pt x="16669" y="64294"/>
                    <a:pt x="8096" y="64294"/>
                    <a:pt x="7144" y="55721"/>
                  </a:cubicBezTo>
                  <a:lnTo>
                    <a:pt x="7144" y="48101"/>
                  </a:lnTo>
                  <a:cubicBezTo>
                    <a:pt x="8096" y="25241"/>
                    <a:pt x="26194" y="7144"/>
                    <a:pt x="50006" y="7144"/>
                  </a:cubicBez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" name="Freeform: Shape 6"/>
            <p:cNvSpPr/>
            <p:nvPr/>
          </p:nvSpPr>
          <p:spPr>
            <a:xfrm>
              <a:off x="4438629" y="6215033"/>
              <a:ext cx="1618413" cy="184076"/>
            </a:xfrm>
            <a:custGeom>
              <a:avLst/>
              <a:gdLst>
                <a:gd name="connsiteX0" fmla="*/ 1478513 w 1618413"/>
                <a:gd name="connsiteY0" fmla="*/ 177499 h 184076"/>
                <a:gd name="connsiteX1" fmla="*/ 1485084 w 1618413"/>
                <a:gd name="connsiteY1" fmla="*/ 177499 h 184076"/>
                <a:gd name="connsiteX2" fmla="*/ 1502686 w 1618413"/>
                <a:gd name="connsiteY2" fmla="*/ 178122 h 184076"/>
                <a:gd name="connsiteX3" fmla="*/ 1499879 w 1618413"/>
                <a:gd name="connsiteY3" fmla="*/ 178526 h 184076"/>
                <a:gd name="connsiteX4" fmla="*/ 1478513 w 1618413"/>
                <a:gd name="connsiteY4" fmla="*/ 177499 h 184076"/>
                <a:gd name="connsiteX5" fmla="*/ 84799 w 1618413"/>
                <a:gd name="connsiteY5" fmla="*/ 170928 h 184076"/>
                <a:gd name="connsiteX6" fmla="*/ 117666 w 1618413"/>
                <a:gd name="connsiteY6" fmla="*/ 177499 h 184076"/>
                <a:gd name="connsiteX7" fmla="*/ 104518 w 1618413"/>
                <a:gd name="connsiteY7" fmla="*/ 177499 h 184076"/>
                <a:gd name="connsiteX8" fmla="*/ 84799 w 1618413"/>
                <a:gd name="connsiteY8" fmla="*/ 170928 h 184076"/>
                <a:gd name="connsiteX9" fmla="*/ 1603418 w 1618413"/>
                <a:gd name="connsiteY9" fmla="*/ 0 h 184076"/>
                <a:gd name="connsiteX10" fmla="*/ 1616567 w 1618413"/>
                <a:gd name="connsiteY10" fmla="*/ 0 h 184076"/>
                <a:gd name="connsiteX11" fmla="*/ 1511177 w 1618413"/>
                <a:gd name="connsiteY11" fmla="*/ 178423 h 184076"/>
                <a:gd name="connsiteX12" fmla="*/ 1502686 w 1618413"/>
                <a:gd name="connsiteY12" fmla="*/ 178122 h 184076"/>
                <a:gd name="connsiteX13" fmla="*/ 1521501 w 1618413"/>
                <a:gd name="connsiteY13" fmla="*/ 175419 h 184076"/>
                <a:gd name="connsiteX14" fmla="*/ 1603418 w 1618413"/>
                <a:gd name="connsiteY14" fmla="*/ 6571 h 184076"/>
                <a:gd name="connsiteX15" fmla="*/ 5911 w 1618413"/>
                <a:gd name="connsiteY15" fmla="*/ 0 h 184076"/>
                <a:gd name="connsiteX16" fmla="*/ 19060 w 1618413"/>
                <a:gd name="connsiteY16" fmla="*/ 6571 h 184076"/>
                <a:gd name="connsiteX17" fmla="*/ 91379 w 1618413"/>
                <a:gd name="connsiteY17" fmla="*/ 184076 h 184076"/>
                <a:gd name="connsiteX18" fmla="*/ 5911 w 1618413"/>
                <a:gd name="connsiteY18" fmla="*/ 0 h 184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18413" h="184076">
                  <a:moveTo>
                    <a:pt x="1478513" y="177499"/>
                  </a:moveTo>
                  <a:lnTo>
                    <a:pt x="1485084" y="177499"/>
                  </a:lnTo>
                  <a:lnTo>
                    <a:pt x="1502686" y="178122"/>
                  </a:lnTo>
                  <a:lnTo>
                    <a:pt x="1499879" y="178526"/>
                  </a:lnTo>
                  <a:cubicBezTo>
                    <a:pt x="1487142" y="179142"/>
                    <a:pt x="1478513" y="177499"/>
                    <a:pt x="1478513" y="177499"/>
                  </a:cubicBezTo>
                  <a:close/>
                  <a:moveTo>
                    <a:pt x="84799" y="170928"/>
                  </a:moveTo>
                  <a:cubicBezTo>
                    <a:pt x="97947" y="177499"/>
                    <a:pt x="104518" y="177499"/>
                    <a:pt x="117666" y="177499"/>
                  </a:cubicBezTo>
                  <a:lnTo>
                    <a:pt x="104518" y="177499"/>
                  </a:lnTo>
                  <a:cubicBezTo>
                    <a:pt x="97947" y="177499"/>
                    <a:pt x="91370" y="177499"/>
                    <a:pt x="84799" y="170928"/>
                  </a:cubicBezTo>
                  <a:close/>
                  <a:moveTo>
                    <a:pt x="1603418" y="0"/>
                  </a:moveTo>
                  <a:lnTo>
                    <a:pt x="1616567" y="0"/>
                  </a:lnTo>
                  <a:cubicBezTo>
                    <a:pt x="1631361" y="152847"/>
                    <a:pt x="1553705" y="176266"/>
                    <a:pt x="1511177" y="178423"/>
                  </a:cubicBezTo>
                  <a:lnTo>
                    <a:pt x="1502686" y="178122"/>
                  </a:lnTo>
                  <a:lnTo>
                    <a:pt x="1521501" y="175419"/>
                  </a:lnTo>
                  <a:cubicBezTo>
                    <a:pt x="1560791" y="165788"/>
                    <a:pt x="1611636" y="129836"/>
                    <a:pt x="1603418" y="6571"/>
                  </a:cubicBezTo>
                  <a:close/>
                  <a:moveTo>
                    <a:pt x="5911" y="0"/>
                  </a:moveTo>
                  <a:lnTo>
                    <a:pt x="19060" y="6571"/>
                  </a:lnTo>
                  <a:cubicBezTo>
                    <a:pt x="19060" y="6571"/>
                    <a:pt x="-20385" y="144631"/>
                    <a:pt x="91379" y="184076"/>
                  </a:cubicBezTo>
                  <a:cubicBezTo>
                    <a:pt x="-33534" y="151202"/>
                    <a:pt x="5911" y="0"/>
                    <a:pt x="5911" y="0"/>
                  </a:cubicBezTo>
                  <a:close/>
                </a:path>
              </a:pathLst>
            </a:custGeom>
            <a:solidFill>
              <a:srgbClr val="4D4D4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8" name="Group 7"/>
            <p:cNvGrpSpPr/>
            <p:nvPr/>
          </p:nvGrpSpPr>
          <p:grpSpPr>
            <a:xfrm>
              <a:off x="1606" y="6382978"/>
              <a:ext cx="413937" cy="115242"/>
              <a:chOff x="5955" y="6353672"/>
              <a:chExt cx="413937" cy="115242"/>
            </a:xfrm>
          </p:grpSpPr>
          <p:sp>
            <p:nvSpPr>
              <p:cNvPr id="13" name="Rectangle: Rounded Corners 12"/>
              <p:cNvSpPr/>
              <p:nvPr/>
            </p:nvSpPr>
            <p:spPr>
              <a:xfrm>
                <a:off x="5955" y="6353672"/>
                <a:ext cx="413937" cy="115242"/>
              </a:xfrm>
              <a:prstGeom prst="roundRect">
                <a:avLst>
                  <a:gd name="adj" fmla="val 28154"/>
                </a:avLst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Rectangle: Rounded Corners 13"/>
              <p:cNvSpPr/>
              <p:nvPr/>
            </p:nvSpPr>
            <p:spPr>
              <a:xfrm>
                <a:off x="99417" y="6382279"/>
                <a:ext cx="227012" cy="55272"/>
              </a:xfrm>
              <a:prstGeom prst="roundRect">
                <a:avLst>
                  <a:gd name="adj" fmla="val 28154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9" name="Group 8"/>
            <p:cNvGrpSpPr/>
            <p:nvPr/>
          </p:nvGrpSpPr>
          <p:grpSpPr>
            <a:xfrm>
              <a:off x="9855291" y="6381600"/>
              <a:ext cx="885989" cy="115242"/>
              <a:chOff x="5955" y="6353672"/>
              <a:chExt cx="413937" cy="115242"/>
            </a:xfrm>
          </p:grpSpPr>
          <p:sp>
            <p:nvSpPr>
              <p:cNvPr id="11" name="Rectangle: Rounded Corners 10"/>
              <p:cNvSpPr/>
              <p:nvPr/>
            </p:nvSpPr>
            <p:spPr>
              <a:xfrm>
                <a:off x="5955" y="6353672"/>
                <a:ext cx="413937" cy="115242"/>
              </a:xfrm>
              <a:prstGeom prst="roundRect">
                <a:avLst>
                  <a:gd name="adj" fmla="val 28154"/>
                </a:avLst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Rectangle: Rounded Corners 11"/>
              <p:cNvSpPr/>
              <p:nvPr/>
            </p:nvSpPr>
            <p:spPr>
              <a:xfrm>
                <a:off x="84761" y="6382279"/>
                <a:ext cx="256326" cy="55272"/>
              </a:xfrm>
              <a:prstGeom prst="roundRect">
                <a:avLst>
                  <a:gd name="adj" fmla="val 28154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0" name="Freeform: Shape 9"/>
            <p:cNvSpPr/>
            <p:nvPr/>
          </p:nvSpPr>
          <p:spPr>
            <a:xfrm>
              <a:off x="3892805" y="496953"/>
              <a:ext cx="5479036" cy="5431217"/>
            </a:xfrm>
            <a:custGeom>
              <a:avLst/>
              <a:gdLst>
                <a:gd name="connsiteX0" fmla="*/ 2567127 w 4009217"/>
                <a:gd name="connsiteY0" fmla="*/ 30683 h 4295590"/>
                <a:gd name="connsiteX1" fmla="*/ 3798529 w 4009217"/>
                <a:gd name="connsiteY1" fmla="*/ 30683 h 4295590"/>
                <a:gd name="connsiteX2" fmla="*/ 4007172 w 4009217"/>
                <a:gd name="connsiteY2" fmla="*/ 272054 h 4295590"/>
                <a:gd name="connsiteX3" fmla="*/ 3998990 w 4009217"/>
                <a:gd name="connsiteY3" fmla="*/ 4268999 h 4295590"/>
                <a:gd name="connsiteX4" fmla="*/ 30683 w 4009217"/>
                <a:gd name="connsiteY4" fmla="*/ 4268999 h 4295590"/>
                <a:gd name="connsiteX0-1" fmla="*/ 2536444 w 3976489"/>
                <a:gd name="connsiteY0-2" fmla="*/ 0 h 4238316"/>
                <a:gd name="connsiteX1-3" fmla="*/ 3976489 w 3976489"/>
                <a:gd name="connsiteY1-4" fmla="*/ 241371 h 4238316"/>
                <a:gd name="connsiteX2-5" fmla="*/ 3968307 w 3976489"/>
                <a:gd name="connsiteY2-6" fmla="*/ 4238316 h 4238316"/>
                <a:gd name="connsiteX3-7" fmla="*/ 0 w 3976489"/>
                <a:gd name="connsiteY3-8" fmla="*/ 4238316 h 4238316"/>
                <a:gd name="connsiteX0-9" fmla="*/ 2536444 w 3976489"/>
                <a:gd name="connsiteY0-10" fmla="*/ 0 h 4238316"/>
                <a:gd name="connsiteX1-11" fmla="*/ 3976489 w 3976489"/>
                <a:gd name="connsiteY1-12" fmla="*/ 213683 h 4238316"/>
                <a:gd name="connsiteX2-13" fmla="*/ 3968307 w 3976489"/>
                <a:gd name="connsiteY2-14" fmla="*/ 4238316 h 4238316"/>
                <a:gd name="connsiteX3-15" fmla="*/ 0 w 3976489"/>
                <a:gd name="connsiteY3-16" fmla="*/ 4238316 h 4238316"/>
                <a:gd name="connsiteX0-17" fmla="*/ 2473335 w 3976489"/>
                <a:gd name="connsiteY0-18" fmla="*/ 0 h 4035268"/>
                <a:gd name="connsiteX1-19" fmla="*/ 3976489 w 3976489"/>
                <a:gd name="connsiteY1-20" fmla="*/ 10635 h 4035268"/>
                <a:gd name="connsiteX2-21" fmla="*/ 3968307 w 3976489"/>
                <a:gd name="connsiteY2-22" fmla="*/ 4035268 h 4035268"/>
                <a:gd name="connsiteX3-23" fmla="*/ 0 w 3976489"/>
                <a:gd name="connsiteY3-24" fmla="*/ 4035268 h 403526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</a:cxnLst>
              <a:rect l="l" t="t" r="r" b="b"/>
              <a:pathLst>
                <a:path w="3976489" h="4035268">
                  <a:moveTo>
                    <a:pt x="2473335" y="0"/>
                  </a:moveTo>
                  <a:lnTo>
                    <a:pt x="3976489" y="10635"/>
                  </a:lnTo>
                  <a:cubicBezTo>
                    <a:pt x="3973762" y="1342950"/>
                    <a:pt x="3971034" y="2702953"/>
                    <a:pt x="3968307" y="4035268"/>
                  </a:cubicBezTo>
                  <a:lnTo>
                    <a:pt x="0" y="4035268"/>
                  </a:lnTo>
                </a:path>
              </a:pathLst>
            </a:custGeom>
            <a:solidFill>
              <a:srgbClr val="999999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15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3909754" y="1947860"/>
            <a:ext cx="4372493" cy="266943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NG sets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2482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 dirty="0"/>
              <a:t>PNG &amp; Shapes Layout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123478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sp>
        <p:nvSpPr>
          <p:cNvPr id="3" name="Rounded Rectangle 2"/>
          <p:cNvSpPr/>
          <p:nvPr userDrawn="1"/>
        </p:nvSpPr>
        <p:spPr>
          <a:xfrm>
            <a:off x="354010" y="1131591"/>
            <a:ext cx="3560767" cy="5402561"/>
          </a:xfrm>
          <a:prstGeom prst="roundRect">
            <a:avLst>
              <a:gd name="adj" fmla="val 3968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4" name="Rounded Rectangle 3"/>
          <p:cNvSpPr/>
          <p:nvPr userDrawn="1"/>
        </p:nvSpPr>
        <p:spPr>
          <a:xfrm>
            <a:off x="531933" y="1347500"/>
            <a:ext cx="153868" cy="5015200"/>
          </a:xfrm>
          <a:prstGeom prst="roundRect">
            <a:avLst>
              <a:gd name="adj" fmla="val 50000"/>
            </a:avLst>
          </a:prstGeom>
          <a:solidFill>
            <a:schemeClr val="bg1">
              <a:alpha val="4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>
              <a:solidFill>
                <a:schemeClr val="bg1"/>
              </a:solidFill>
            </a:endParaRPr>
          </a:p>
        </p:txBody>
      </p:sp>
      <p:sp>
        <p:nvSpPr>
          <p:cNvPr id="5" name="Half Frame 4"/>
          <p:cNvSpPr/>
          <p:nvPr userDrawn="1"/>
        </p:nvSpPr>
        <p:spPr>
          <a:xfrm rot="5400000">
            <a:off x="3057177" y="1276653"/>
            <a:ext cx="685849" cy="685148"/>
          </a:xfrm>
          <a:prstGeom prst="halfFrame">
            <a:avLst>
              <a:gd name="adj1" fmla="val 23728"/>
              <a:gd name="adj2" fmla="val 24642"/>
            </a:avLst>
          </a:prstGeom>
          <a:solidFill>
            <a:schemeClr val="bg1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8" name="TextBox 57"/>
          <p:cNvSpPr txBox="1"/>
          <p:nvPr userDrawn="1"/>
        </p:nvSpPr>
        <p:spPr>
          <a:xfrm>
            <a:off x="711704" y="1637214"/>
            <a:ext cx="223224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 can Resize without losing quality</a:t>
            </a:r>
            <a:endParaRPr lang="ko-KR" alt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" name="TextBox 58"/>
          <p:cNvSpPr txBox="1"/>
          <p:nvPr userDrawn="1"/>
        </p:nvSpPr>
        <p:spPr>
          <a:xfrm>
            <a:off x="711704" y="2127463"/>
            <a:ext cx="2232248" cy="7386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 can Change Fill Color &amp;</a:t>
            </a:r>
          </a:p>
          <a:p>
            <a:r>
              <a:rPr lang="en-US" altLang="ko-KR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Line Color</a:t>
            </a:r>
            <a:endParaRPr lang="ko-KR" alt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0" name="TextBox 59"/>
          <p:cNvSpPr txBox="1"/>
          <p:nvPr userDrawn="1"/>
        </p:nvSpPr>
        <p:spPr>
          <a:xfrm>
            <a:off x="721229" y="5808438"/>
            <a:ext cx="223200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www.allppt.com</a:t>
            </a:r>
            <a:endParaRPr lang="ko-KR" altLang="en-US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1" name="TextBox 60"/>
          <p:cNvSpPr txBox="1"/>
          <p:nvPr userDrawn="1"/>
        </p:nvSpPr>
        <p:spPr>
          <a:xfrm>
            <a:off x="721229" y="4450324"/>
            <a:ext cx="2717296" cy="138499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t>FREE </a:t>
            </a:r>
          </a:p>
          <a:p>
            <a:r>
              <a:rPr lang="en-US" altLang="ko-KR" sz="2800" b="1" dirty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t>PPT TEMPLATES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6.xml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5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5.xml"/><Relationship Id="rId16" Type="http://schemas.openxmlformats.org/officeDocument/2006/relationships/slideLayout" Target="../slideLayouts/slideLayout19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4.xml"/><Relationship Id="rId5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13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7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  <p:sldLayoutId id="2147483660" r:id="rId8"/>
    <p:sldLayoutId id="2147483661" r:id="rId9"/>
    <p:sldLayoutId id="2147483662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68" r:id="rId1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166397" y="219741"/>
            <a:ext cx="785920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rgbClr val="92D05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Digital Restaurant Menu</a:t>
            </a:r>
            <a:endParaRPr lang="en-US" sz="4000" b="1" dirty="0">
              <a:solidFill>
                <a:srgbClr val="92D05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5680792"/>
            <a:ext cx="12192000" cy="1177208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Presented By</a:t>
            </a:r>
          </a:p>
          <a:p>
            <a:pPr algn="ctr"/>
            <a:endParaRPr lang="en-US" sz="8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/>
            <a:r>
              <a:rPr lang="en-US" sz="2800" dirty="0" err="1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Satyajeet</a:t>
            </a:r>
            <a:r>
              <a:rPr lang="en-US" sz="2800" dirty="0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Kundalwal</a:t>
            </a:r>
            <a:r>
              <a:rPr lang="en-US" sz="2800" dirty="0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&amp; </a:t>
            </a:r>
            <a:r>
              <a:rPr lang="en-US" sz="2800" dirty="0" err="1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Kartik</a:t>
            </a:r>
            <a:r>
              <a:rPr lang="en-US" sz="2800" dirty="0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Borana</a:t>
            </a:r>
            <a:endParaRPr lang="en-US" sz="28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11" t="9649" r="21502" b="15789"/>
          <a:stretch/>
        </p:blipFill>
        <p:spPr>
          <a:xfrm>
            <a:off x="3983182" y="757305"/>
            <a:ext cx="3519054" cy="401781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364182" y="4544290"/>
            <a:ext cx="27570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>
                <a:latin typeface="Algerian" panose="04020705040A02060702" pitchFamily="82" charset="0"/>
              </a:rPr>
              <a:t>Foodie QR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0" y="342692"/>
            <a:ext cx="7601830" cy="1005840"/>
            <a:chOff x="0" y="545888"/>
            <a:chExt cx="7601830" cy="1005840"/>
          </a:xfrm>
        </p:grpSpPr>
        <p:sp>
          <p:nvSpPr>
            <p:cNvPr id="6" name="Arrow: Chevron 17"/>
            <p:cNvSpPr/>
            <p:nvPr/>
          </p:nvSpPr>
          <p:spPr>
            <a:xfrm>
              <a:off x="6663477" y="545888"/>
              <a:ext cx="731520" cy="1005840"/>
            </a:xfrm>
            <a:prstGeom prst="chevron">
              <a:avLst>
                <a:gd name="adj" fmla="val 56731"/>
              </a:avLst>
            </a:prstGeom>
            <a:solidFill>
              <a:srgbClr val="92D050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7" name="Arrow: Pentagon 1"/>
            <p:cNvSpPr/>
            <p:nvPr/>
          </p:nvSpPr>
          <p:spPr>
            <a:xfrm>
              <a:off x="0" y="545888"/>
              <a:ext cx="6427177" cy="1005840"/>
            </a:xfrm>
            <a:prstGeom prst="homePlate">
              <a:avLst>
                <a:gd name="adj" fmla="val 40909"/>
              </a:avLst>
            </a:prstGeom>
            <a:solidFill>
              <a:srgbClr val="92D050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dirty="0">
                  <a:latin typeface="Cambria" panose="02040503050406030204" pitchFamily="18" charset="0"/>
                  <a:ea typeface="Cambria" panose="02040503050406030204" pitchFamily="18" charset="0"/>
                </a:rPr>
                <a:t>Introduction</a:t>
              </a:r>
            </a:p>
          </p:txBody>
        </p:sp>
        <p:sp>
          <p:nvSpPr>
            <p:cNvPr id="8" name="Arrow: Chevron 18"/>
            <p:cNvSpPr/>
            <p:nvPr/>
          </p:nvSpPr>
          <p:spPr>
            <a:xfrm>
              <a:off x="7053190" y="545888"/>
              <a:ext cx="548640" cy="1005840"/>
            </a:xfrm>
            <a:prstGeom prst="chevron">
              <a:avLst>
                <a:gd name="adj" fmla="val 74706"/>
              </a:avLst>
            </a:prstGeom>
            <a:solidFill>
              <a:srgbClr val="92D050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9" name="Arrow: Chevron 19"/>
            <p:cNvSpPr/>
            <p:nvPr/>
          </p:nvSpPr>
          <p:spPr>
            <a:xfrm>
              <a:off x="6083373" y="545888"/>
              <a:ext cx="914400" cy="1005840"/>
            </a:xfrm>
            <a:prstGeom prst="chevron">
              <a:avLst>
                <a:gd name="adj" fmla="val 45057"/>
              </a:avLst>
            </a:prstGeom>
            <a:solidFill>
              <a:srgbClr val="92D050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-4785917"/>
            <a:ext cx="11564384" cy="95718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2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sz="2800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2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sz="2800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2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sz="2800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2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sz="2800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2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sz="2800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2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sz="2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sz="2800" b="1" dirty="0" smtClean="0"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sz="2800" b="1" dirty="0" smtClean="0"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Problem: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Traditional paper menus are unhygienic, expensive to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reprint for small price changes, and often outdated (items out of stock).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Waiters take time to attend to tables during peak hours.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Solution: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This web application allows customers to view a digital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menu (via QR code or link), filter items instantly, and place orders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directly to the kitchen without waiting for staff.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0" y="303363"/>
            <a:ext cx="6843252" cy="485248"/>
            <a:chOff x="0" y="545888"/>
            <a:chExt cx="7601830" cy="1005840"/>
          </a:xfrm>
          <a:solidFill>
            <a:schemeClr val="accent3">
              <a:lumMod val="60000"/>
              <a:lumOff val="40000"/>
            </a:schemeClr>
          </a:solidFill>
        </p:grpSpPr>
        <p:sp>
          <p:nvSpPr>
            <p:cNvPr id="11" name="Arrow: Chevron 17"/>
            <p:cNvSpPr/>
            <p:nvPr/>
          </p:nvSpPr>
          <p:spPr>
            <a:xfrm>
              <a:off x="6663477" y="545888"/>
              <a:ext cx="731520" cy="1005840"/>
            </a:xfrm>
            <a:prstGeom prst="chevron">
              <a:avLst>
                <a:gd name="adj" fmla="val 56731"/>
              </a:avLst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2" name="Arrow: Pentagon 1"/>
            <p:cNvSpPr/>
            <p:nvPr/>
          </p:nvSpPr>
          <p:spPr>
            <a:xfrm>
              <a:off x="0" y="545888"/>
              <a:ext cx="6427177" cy="1005840"/>
            </a:xfrm>
            <a:prstGeom prst="homePlate">
              <a:avLst>
                <a:gd name="adj" fmla="val 40909"/>
              </a:avLst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dirty="0">
                  <a:latin typeface="Cambria" panose="02040503050406030204" pitchFamily="18" charset="0"/>
                  <a:ea typeface="Cambria" panose="02040503050406030204" pitchFamily="18" charset="0"/>
                </a:rPr>
                <a:t>Technology Used </a:t>
              </a:r>
            </a:p>
          </p:txBody>
        </p:sp>
        <p:sp>
          <p:nvSpPr>
            <p:cNvPr id="13" name="Arrow: Chevron 18"/>
            <p:cNvSpPr/>
            <p:nvPr/>
          </p:nvSpPr>
          <p:spPr>
            <a:xfrm>
              <a:off x="7053190" y="545888"/>
              <a:ext cx="548640" cy="1005840"/>
            </a:xfrm>
            <a:prstGeom prst="chevron">
              <a:avLst>
                <a:gd name="adj" fmla="val 74706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4" name="Arrow: Chevron 19"/>
            <p:cNvSpPr/>
            <p:nvPr/>
          </p:nvSpPr>
          <p:spPr>
            <a:xfrm>
              <a:off x="6083373" y="545888"/>
              <a:ext cx="914400" cy="1005840"/>
            </a:xfrm>
            <a:prstGeom prst="chevron">
              <a:avLst>
                <a:gd name="adj" fmla="val 45057"/>
              </a:avLst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20" name="TextBox 19"/>
          <p:cNvSpPr txBox="1"/>
          <p:nvPr/>
        </p:nvSpPr>
        <p:spPr>
          <a:xfrm>
            <a:off x="675421" y="925629"/>
            <a:ext cx="11248103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buNone/>
            </a:pP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We used Java Spring-Boot as backend and React JS as Frontend in our Project.</a:t>
            </a:r>
          </a:p>
          <a:p>
            <a:pPr marL="0" indent="0" algn="just">
              <a:buNone/>
            </a:pPr>
            <a:endParaRPr lang="en-IN" sz="2400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sz="2400" b="0" i="0" dirty="0">
                <a:solidFill>
                  <a:schemeClr val="tx2">
                    <a:lumMod val="40000"/>
                    <a:lumOff val="60000"/>
                  </a:schemeClr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i="0" dirty="0">
                <a:solidFill>
                  <a:schemeClr val="tx2">
                    <a:lumMod val="40000"/>
                    <a:lumOff val="60000"/>
                  </a:schemeClr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Spring-Boot :–</a:t>
            </a:r>
            <a:r>
              <a:rPr lang="en-US" sz="2400" b="0" i="0" dirty="0">
                <a:solidFill>
                  <a:schemeClr val="tx2">
                    <a:lumMod val="40000"/>
                    <a:lumOff val="60000"/>
                  </a:schemeClr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</a:p>
          <a:p>
            <a:pPr marL="594360" lvl="2" indent="0" algn="just">
              <a:buNone/>
            </a:pPr>
            <a:r>
              <a:rPr lang="en-US" sz="2400" b="0" i="0" dirty="0">
                <a:solidFill>
                  <a:srgbClr val="202124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	</a:t>
            </a:r>
            <a:r>
              <a:rPr lang="en-US" sz="2400" b="0" i="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The main goal of the </a:t>
            </a:r>
            <a:r>
              <a:rPr lang="en-US" sz="2400" b="1" i="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Spring Boot</a:t>
            </a:r>
            <a:r>
              <a:rPr lang="en-US" sz="2400" b="0" i="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 framework is to reduce overall development time and increase efficiency</a:t>
            </a:r>
            <a:r>
              <a:rPr lang="en-US" sz="2400" b="0" i="0" dirty="0">
                <a:solidFill>
                  <a:srgbClr val="202124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.</a:t>
            </a: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React has become the first choice for frontend because it gives developers the ability to work with a virtual browser (more friendly than the real browser). Also, a JavaScript developer can become a productive developer in a few hours because there is a small API to learn, a few functions, and how to use them…</a:t>
            </a:r>
          </a:p>
          <a:p>
            <a:pPr marL="594360" lvl="2" indent="0" algn="just">
              <a:buNone/>
            </a:pPr>
            <a:endParaRPr lang="en-US" sz="2400" dirty="0">
              <a:solidFill>
                <a:srgbClr val="202124"/>
              </a:solidFill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sz="2400" dirty="0">
                <a:solidFill>
                  <a:schemeClr val="tx2">
                    <a:lumMod val="40000"/>
                    <a:lumOff val="6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solidFill>
                  <a:schemeClr val="tx2">
                    <a:lumMod val="40000"/>
                    <a:lumOff val="6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React</a:t>
            </a:r>
            <a:r>
              <a:rPr lang="en-US" sz="2400" dirty="0">
                <a:solidFill>
                  <a:schemeClr val="tx2">
                    <a:lumMod val="40000"/>
                    <a:lumOff val="6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solidFill>
                  <a:schemeClr val="tx2">
                    <a:lumMod val="40000"/>
                    <a:lumOff val="6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:–</a:t>
            </a:r>
            <a:r>
              <a:rPr lang="en-US" sz="2400" dirty="0">
                <a:solidFill>
                  <a:schemeClr val="tx2">
                    <a:lumMod val="40000"/>
                    <a:lumOff val="6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/>
              <a:t>Creates a fast, responsive "Virtual Browser" experience. Essential for a menu that needs to load quickly on customers' mobile phones without reloading the page for every category </a:t>
            </a:r>
            <a:r>
              <a:rPr lang="en-US" sz="2400" dirty="0" smtClean="0"/>
              <a:t>switch.</a:t>
            </a:r>
            <a:endParaRPr lang="en-US" sz="2400" dirty="0">
              <a:solidFill>
                <a:schemeClr val="tx2">
                  <a:lumMod val="40000"/>
                  <a:lumOff val="60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b="0" i="0" dirty="0" smtClean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       The </a:t>
            </a:r>
            <a:r>
              <a:rPr lang="en-US" sz="2400" b="0" i="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main purpose of </a:t>
            </a:r>
            <a:r>
              <a:rPr lang="en-US" sz="2400" b="1" i="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React</a:t>
            </a:r>
            <a:r>
              <a:rPr lang="en-US" sz="2400" b="0" i="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 is to be fast, scalable, and simple.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0" y="342692"/>
            <a:ext cx="7601830" cy="1005840"/>
            <a:chOff x="0" y="545888"/>
            <a:chExt cx="7601830" cy="1005840"/>
          </a:xfrm>
          <a:solidFill>
            <a:schemeClr val="accent3">
              <a:lumMod val="60000"/>
              <a:lumOff val="40000"/>
            </a:schemeClr>
          </a:solidFill>
        </p:grpSpPr>
        <p:sp>
          <p:nvSpPr>
            <p:cNvPr id="11" name="Arrow: Chevron 17"/>
            <p:cNvSpPr/>
            <p:nvPr/>
          </p:nvSpPr>
          <p:spPr>
            <a:xfrm>
              <a:off x="6663477" y="545888"/>
              <a:ext cx="731520" cy="1005840"/>
            </a:xfrm>
            <a:prstGeom prst="chevron">
              <a:avLst>
                <a:gd name="adj" fmla="val 56731"/>
              </a:avLst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2" name="Arrow: Pentagon 1"/>
            <p:cNvSpPr/>
            <p:nvPr/>
          </p:nvSpPr>
          <p:spPr>
            <a:xfrm>
              <a:off x="0" y="545888"/>
              <a:ext cx="6427177" cy="1005840"/>
            </a:xfrm>
            <a:prstGeom prst="homePlate">
              <a:avLst>
                <a:gd name="adj" fmla="val 40909"/>
              </a:avLst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dirty="0">
                  <a:latin typeface="Cambria" panose="02040503050406030204" pitchFamily="18" charset="0"/>
                  <a:ea typeface="Cambria" panose="02040503050406030204" pitchFamily="18" charset="0"/>
                </a:rPr>
                <a:t>User Classes </a:t>
              </a:r>
            </a:p>
          </p:txBody>
        </p:sp>
        <p:sp>
          <p:nvSpPr>
            <p:cNvPr id="13" name="Arrow: Chevron 18"/>
            <p:cNvSpPr/>
            <p:nvPr/>
          </p:nvSpPr>
          <p:spPr>
            <a:xfrm>
              <a:off x="7053190" y="545888"/>
              <a:ext cx="548640" cy="1005840"/>
            </a:xfrm>
            <a:prstGeom prst="chevron">
              <a:avLst>
                <a:gd name="adj" fmla="val 74706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4" name="Arrow: Chevron 19"/>
            <p:cNvSpPr/>
            <p:nvPr/>
          </p:nvSpPr>
          <p:spPr>
            <a:xfrm>
              <a:off x="6083373" y="545888"/>
              <a:ext cx="914400" cy="1005840"/>
            </a:xfrm>
            <a:prstGeom prst="chevron">
              <a:avLst>
                <a:gd name="adj" fmla="val 45057"/>
              </a:avLst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cxnSp>
        <p:nvCxnSpPr>
          <p:cNvPr id="15" name="Straight Connector 14"/>
          <p:cNvCxnSpPr/>
          <p:nvPr/>
        </p:nvCxnSpPr>
        <p:spPr>
          <a:xfrm rot="5400000">
            <a:off x="1270317" y="3468591"/>
            <a:ext cx="1632869" cy="22416"/>
          </a:xfrm>
          <a:prstGeom prst="line">
            <a:avLst/>
          </a:prstGeom>
          <a:ln w="25400">
            <a:solidFill>
              <a:schemeClr val="accent6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885371" y="3251201"/>
            <a:ext cx="2525486" cy="566057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7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Customer</a:t>
            </a:r>
            <a:endParaRPr lang="ko-KR" altLang="en-US" sz="2700" b="1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cxnSp>
        <p:nvCxnSpPr>
          <p:cNvPr id="19" name="Straight Connector 18"/>
          <p:cNvCxnSpPr/>
          <p:nvPr/>
        </p:nvCxnSpPr>
        <p:spPr>
          <a:xfrm rot="16200000" flipH="1">
            <a:off x="9427028" y="3432634"/>
            <a:ext cx="1596572" cy="14513"/>
          </a:xfrm>
          <a:prstGeom prst="line">
            <a:avLst/>
          </a:prstGeom>
          <a:ln w="25400">
            <a:solidFill>
              <a:schemeClr val="accent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8897255" y="3193144"/>
            <a:ext cx="2569029" cy="580571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700" b="1" dirty="0" smtClean="0">
                <a:solidFill>
                  <a:schemeClr val="tx1"/>
                </a:solidFill>
                <a:latin typeface="Cambria" panose="02040503050406030204" pitchFamily="18" charset="0"/>
              </a:rPr>
              <a:t>Staff</a:t>
            </a:r>
            <a:endParaRPr lang="ko-KR" altLang="en-US" sz="2700" b="1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cxnSp>
        <p:nvCxnSpPr>
          <p:cNvPr id="23" name="Straight Connector 22"/>
          <p:cNvCxnSpPr/>
          <p:nvPr/>
        </p:nvCxnSpPr>
        <p:spPr>
          <a:xfrm rot="5400000">
            <a:off x="5177297" y="3436927"/>
            <a:ext cx="1603842" cy="27693"/>
          </a:xfrm>
          <a:prstGeom prst="line">
            <a:avLst/>
          </a:prstGeom>
          <a:ln w="25400">
            <a:solidFill>
              <a:schemeClr val="accent2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4586514" y="3264550"/>
            <a:ext cx="2830286" cy="55271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7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Admin</a:t>
            </a:r>
            <a:endParaRPr lang="ko-KR" altLang="en-US" sz="2700" b="1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48344" y="4505602"/>
            <a:ext cx="3672114" cy="1323439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algn="ctr"/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In this module a customer will register, </a:t>
            </a: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login himself or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search from various categories </a:t>
            </a: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available ordered food .</a:t>
            </a:r>
            <a:endParaRPr lang="ko-KR" alt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Cambria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4020458" y="4318659"/>
            <a:ext cx="409302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In this module Admin can manage Customers and </a:t>
            </a: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Staffs .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Will maintain one to one relation</a:t>
            </a: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algn="ctr"/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Updates food items, prices, and availability (In/Out of stock)</a:t>
            </a:r>
            <a:endParaRPr lang="ko-KR" alt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Cambria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8476343" y="4411262"/>
            <a:ext cx="3367314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In this module </a:t>
            </a: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Staff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can </a:t>
            </a: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register by admin &amp;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login and can </a:t>
            </a:r>
            <a:r>
              <a:rPr lang="en-IN" sz="2000" dirty="0"/>
              <a:t>View incoming customer orders </a:t>
            </a:r>
            <a:r>
              <a:rPr lang="en-IN" sz="2000" dirty="0" smtClean="0"/>
              <a:t>, Update </a:t>
            </a:r>
            <a:r>
              <a:rPr lang="en-IN" sz="2000" dirty="0"/>
              <a:t>order </a:t>
            </a:r>
            <a:r>
              <a:rPr lang="en-IN" sz="2000" dirty="0" smtClean="0"/>
              <a:t>status .</a:t>
            </a:r>
            <a:endParaRPr lang="ko-KR" alt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Cambria" panose="02040503050406030204" pitchFamily="18" charset="0"/>
              <a:cs typeface="Arial" panose="020B0604020202020204" pitchFamily="34" charset="0"/>
            </a:endParaRPr>
          </a:p>
        </p:txBody>
      </p:sp>
      <p:pic>
        <p:nvPicPr>
          <p:cNvPr id="47" name="Picture 46" descr="user png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470585" y="1546785"/>
            <a:ext cx="1267971" cy="126797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5404875" y="1582747"/>
            <a:ext cx="1120992" cy="120827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89805" y="1523050"/>
            <a:ext cx="1267971" cy="126797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21" grpId="0" animBg="1"/>
      <p:bldP spid="25" grpId="0" animBg="1"/>
      <p:bldP spid="29" grpId="0"/>
      <p:bldP spid="44" grpId="0"/>
      <p:bldP spid="4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0" y="314801"/>
            <a:ext cx="7601830" cy="1005840"/>
            <a:chOff x="0" y="545888"/>
            <a:chExt cx="7601830" cy="1005840"/>
          </a:xfrm>
          <a:solidFill>
            <a:srgbClr val="92D050"/>
          </a:solidFill>
        </p:grpSpPr>
        <p:sp>
          <p:nvSpPr>
            <p:cNvPr id="6" name="Arrow: Chevron 17"/>
            <p:cNvSpPr/>
            <p:nvPr/>
          </p:nvSpPr>
          <p:spPr>
            <a:xfrm>
              <a:off x="6663477" y="545888"/>
              <a:ext cx="731520" cy="1005840"/>
            </a:xfrm>
            <a:prstGeom prst="chevron">
              <a:avLst>
                <a:gd name="adj" fmla="val 56731"/>
              </a:avLst>
            </a:prstGeom>
            <a:grpFill/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7" name="Arrow: Pentagon 1"/>
            <p:cNvSpPr/>
            <p:nvPr/>
          </p:nvSpPr>
          <p:spPr>
            <a:xfrm>
              <a:off x="0" y="545888"/>
              <a:ext cx="6427177" cy="1005840"/>
            </a:xfrm>
            <a:prstGeom prst="homePlate">
              <a:avLst>
                <a:gd name="adj" fmla="val 40909"/>
              </a:avLst>
            </a:prstGeom>
            <a:grpFill/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4400" dirty="0"/>
                <a:t>OBJECTIVE</a:t>
              </a:r>
              <a:endParaRPr lang="en-IN" sz="3600" dirty="0"/>
            </a:p>
          </p:txBody>
        </p:sp>
        <p:sp>
          <p:nvSpPr>
            <p:cNvPr id="8" name="Arrow: Chevron 18"/>
            <p:cNvSpPr/>
            <p:nvPr/>
          </p:nvSpPr>
          <p:spPr>
            <a:xfrm>
              <a:off x="7053190" y="545888"/>
              <a:ext cx="548640" cy="1005840"/>
            </a:xfrm>
            <a:prstGeom prst="chevron">
              <a:avLst>
                <a:gd name="adj" fmla="val 74706"/>
              </a:avLst>
            </a:prstGeom>
            <a:grpFill/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9" name="Arrow: Chevron 19"/>
            <p:cNvSpPr/>
            <p:nvPr/>
          </p:nvSpPr>
          <p:spPr>
            <a:xfrm>
              <a:off x="6083373" y="545888"/>
              <a:ext cx="914400" cy="1005840"/>
            </a:xfrm>
            <a:prstGeom prst="chevron">
              <a:avLst>
                <a:gd name="adj" fmla="val 45057"/>
              </a:avLst>
            </a:prstGeom>
            <a:grpFill/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10" name="Rectangle 9"/>
          <p:cNvSpPr/>
          <p:nvPr/>
        </p:nvSpPr>
        <p:spPr>
          <a:xfrm>
            <a:off x="689610" y="1798515"/>
            <a:ext cx="493369" cy="43902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/>
          </a:p>
        </p:txBody>
      </p:sp>
      <p:sp>
        <p:nvSpPr>
          <p:cNvPr id="11" name="TextBox 10"/>
          <p:cNvSpPr txBox="1"/>
          <p:nvPr/>
        </p:nvSpPr>
        <p:spPr>
          <a:xfrm>
            <a:off x="729340" y="1853290"/>
            <a:ext cx="428367" cy="338554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pPr algn="ctr"/>
            <a:r>
              <a:rPr lang="en-US" altLang="ko-KR" sz="1600" b="1" dirty="0">
                <a:solidFill>
                  <a:schemeClr val="tx1">
                    <a:lumMod val="85000"/>
                    <a:lumOff val="15000"/>
                  </a:schemeClr>
                </a:solidFill>
                <a:cs typeface="Arial" panose="020B0604020202020204" pitchFamily="34" charset="0"/>
              </a:rPr>
              <a:t>01</a:t>
            </a:r>
            <a:endParaRPr lang="ko-KR" altLang="en-US" sz="1600" b="1" dirty="0">
              <a:solidFill>
                <a:schemeClr val="tx1">
                  <a:lumMod val="85000"/>
                  <a:lumOff val="15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04124" y="2627532"/>
            <a:ext cx="493369" cy="43902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/>
          </a:p>
        </p:txBody>
      </p:sp>
      <p:sp>
        <p:nvSpPr>
          <p:cNvPr id="13" name="TextBox 12"/>
          <p:cNvSpPr txBox="1"/>
          <p:nvPr/>
        </p:nvSpPr>
        <p:spPr>
          <a:xfrm>
            <a:off x="725895" y="2665987"/>
            <a:ext cx="428367" cy="338554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pPr algn="ctr"/>
            <a:r>
              <a:rPr lang="en-US" altLang="ko-KR" sz="1600" b="1" dirty="0">
                <a:solidFill>
                  <a:schemeClr val="tx1">
                    <a:lumMod val="85000"/>
                    <a:lumOff val="15000"/>
                  </a:schemeClr>
                </a:solidFill>
                <a:cs typeface="Arial" panose="020B0604020202020204" pitchFamily="34" charset="0"/>
              </a:rPr>
              <a:t>02</a:t>
            </a:r>
            <a:endParaRPr lang="ko-KR" altLang="en-US" sz="1600" b="1" dirty="0">
              <a:solidFill>
                <a:schemeClr val="tx1">
                  <a:lumMod val="85000"/>
                  <a:lumOff val="15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04124" y="3485236"/>
            <a:ext cx="493369" cy="43902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/>
          </a:p>
        </p:txBody>
      </p:sp>
      <p:sp>
        <p:nvSpPr>
          <p:cNvPr id="15" name="TextBox 14"/>
          <p:cNvSpPr txBox="1"/>
          <p:nvPr/>
        </p:nvSpPr>
        <p:spPr>
          <a:xfrm>
            <a:off x="743855" y="3498735"/>
            <a:ext cx="428367" cy="338554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pPr algn="ctr"/>
            <a:r>
              <a:rPr lang="en-US" altLang="ko-KR" sz="1600" b="1" dirty="0">
                <a:solidFill>
                  <a:schemeClr val="tx1">
                    <a:lumMod val="85000"/>
                    <a:lumOff val="15000"/>
                  </a:schemeClr>
                </a:solidFill>
                <a:cs typeface="Arial" panose="020B0604020202020204" pitchFamily="34" charset="0"/>
              </a:rPr>
              <a:t>03</a:t>
            </a:r>
            <a:endParaRPr lang="ko-KR" altLang="en-US" sz="1600" b="1" dirty="0">
              <a:solidFill>
                <a:schemeClr val="tx1">
                  <a:lumMod val="85000"/>
                  <a:lumOff val="15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78853" y="4173226"/>
            <a:ext cx="493369" cy="43902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/>
          </a:p>
        </p:txBody>
      </p:sp>
      <p:sp>
        <p:nvSpPr>
          <p:cNvPr id="17" name="TextBox 16"/>
          <p:cNvSpPr txBox="1"/>
          <p:nvPr/>
        </p:nvSpPr>
        <p:spPr>
          <a:xfrm>
            <a:off x="743855" y="4173226"/>
            <a:ext cx="428367" cy="338554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pPr algn="ctr"/>
            <a:r>
              <a:rPr lang="en-US" altLang="ko-KR" sz="1600" b="1" dirty="0">
                <a:solidFill>
                  <a:schemeClr val="tx1">
                    <a:lumMod val="85000"/>
                    <a:lumOff val="15000"/>
                  </a:schemeClr>
                </a:solidFill>
                <a:cs typeface="Arial" panose="020B0604020202020204" pitchFamily="34" charset="0"/>
              </a:rPr>
              <a:t>04</a:t>
            </a:r>
            <a:endParaRPr lang="ko-KR" altLang="en-US" sz="1600" b="1" dirty="0">
              <a:solidFill>
                <a:schemeClr val="tx1">
                  <a:lumMod val="85000"/>
                  <a:lumOff val="15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712686" y="1799772"/>
            <a:ext cx="84618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9" name="TextBox 18"/>
          <p:cNvSpPr txBox="1"/>
          <p:nvPr/>
        </p:nvSpPr>
        <p:spPr>
          <a:xfrm>
            <a:off x="1478554" y="1720075"/>
            <a:ext cx="992777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The Digital Restaurant Menu System is a web-based application designed to modernize the restaurant ordering process using QR codes.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78554" y="2571199"/>
            <a:ext cx="88682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The system provides a contactless, fast, and user-friendly experience for customers, staff, and administrators.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78554" y="3481893"/>
            <a:ext cx="88682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This application eliminates the need for physical menus and manual order taking</a:t>
            </a:r>
            <a:r>
              <a:rPr lang="en-US" sz="2000" dirty="0" smtClean="0"/>
              <a:t>.</a:t>
            </a:r>
            <a:endParaRPr lang="en-US" sz="2000" dirty="0"/>
          </a:p>
        </p:txBody>
      </p:sp>
      <p:sp>
        <p:nvSpPr>
          <p:cNvPr id="29" name="Rectangle 28"/>
          <p:cNvSpPr/>
          <p:nvPr/>
        </p:nvSpPr>
        <p:spPr>
          <a:xfrm>
            <a:off x="725895" y="4911829"/>
            <a:ext cx="493369" cy="43902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/>
          </a:p>
        </p:txBody>
      </p:sp>
      <p:sp>
        <p:nvSpPr>
          <p:cNvPr id="30" name="TextBox 29"/>
          <p:cNvSpPr txBox="1"/>
          <p:nvPr/>
        </p:nvSpPr>
        <p:spPr>
          <a:xfrm>
            <a:off x="765625" y="4966604"/>
            <a:ext cx="428367" cy="338554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pPr algn="ctr"/>
            <a:r>
              <a:rPr lang="en-US" altLang="ko-KR" sz="1600" b="1" dirty="0">
                <a:solidFill>
                  <a:schemeClr val="tx1">
                    <a:lumMod val="85000"/>
                    <a:lumOff val="15000"/>
                  </a:schemeClr>
                </a:solidFill>
                <a:cs typeface="Arial" panose="020B0604020202020204" pitchFamily="34" charset="0"/>
              </a:rPr>
              <a:t>05</a:t>
            </a:r>
            <a:endParaRPr lang="ko-KR" altLang="en-US" sz="1600" b="1" dirty="0">
              <a:solidFill>
                <a:schemeClr val="tx1">
                  <a:lumMod val="85000"/>
                  <a:lumOff val="15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748971" y="4913086"/>
            <a:ext cx="84618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2" name="TextBox 31"/>
          <p:cNvSpPr txBox="1"/>
          <p:nvPr/>
        </p:nvSpPr>
        <p:spPr>
          <a:xfrm>
            <a:off x="1516741" y="4956631"/>
            <a:ext cx="992777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The project focuses on improving customer experience, reducing errors, and increasing operational efficiency</a:t>
            </a:r>
            <a:r>
              <a:rPr lang="en-US" sz="2000" dirty="0" smtClean="0"/>
              <a:t>.</a:t>
            </a:r>
            <a:endParaRPr lang="en-US" sz="2000" dirty="0"/>
          </a:p>
        </p:txBody>
      </p:sp>
      <p:sp>
        <p:nvSpPr>
          <p:cNvPr id="24" name="TextBox 23"/>
          <p:cNvSpPr txBox="1"/>
          <p:nvPr/>
        </p:nvSpPr>
        <p:spPr>
          <a:xfrm>
            <a:off x="1509486" y="4105507"/>
            <a:ext cx="88682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It helps restaurants manage menus, orders, and users efficiently through a centralized system</a:t>
            </a:r>
            <a:r>
              <a:rPr lang="en-US" sz="2000" dirty="0" smtClean="0"/>
              <a:t>.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0" y="303362"/>
            <a:ext cx="6843252" cy="856697"/>
            <a:chOff x="0" y="545888"/>
            <a:chExt cx="7601830" cy="1005840"/>
          </a:xfrm>
          <a:solidFill>
            <a:schemeClr val="accent3">
              <a:lumMod val="60000"/>
              <a:lumOff val="40000"/>
            </a:schemeClr>
          </a:solidFill>
        </p:grpSpPr>
        <p:sp>
          <p:nvSpPr>
            <p:cNvPr id="11" name="Arrow: Chevron 17"/>
            <p:cNvSpPr/>
            <p:nvPr/>
          </p:nvSpPr>
          <p:spPr>
            <a:xfrm>
              <a:off x="6663477" y="545888"/>
              <a:ext cx="731520" cy="1005840"/>
            </a:xfrm>
            <a:prstGeom prst="chevron">
              <a:avLst>
                <a:gd name="adj" fmla="val 56731"/>
              </a:avLst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2" name="Arrow: Pentagon 1"/>
            <p:cNvSpPr/>
            <p:nvPr/>
          </p:nvSpPr>
          <p:spPr>
            <a:xfrm>
              <a:off x="0" y="545888"/>
              <a:ext cx="6427177" cy="1005840"/>
            </a:xfrm>
            <a:prstGeom prst="homePlate">
              <a:avLst>
                <a:gd name="adj" fmla="val 40909"/>
              </a:avLst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dirty="0">
                  <a:latin typeface="Cambria" panose="02040503050406030204" pitchFamily="18" charset="0"/>
                  <a:ea typeface="Cambria" panose="02040503050406030204" pitchFamily="18" charset="0"/>
                </a:rPr>
                <a:t>Customer Module</a:t>
              </a:r>
            </a:p>
          </p:txBody>
        </p:sp>
        <p:sp>
          <p:nvSpPr>
            <p:cNvPr id="13" name="Arrow: Chevron 18"/>
            <p:cNvSpPr/>
            <p:nvPr/>
          </p:nvSpPr>
          <p:spPr>
            <a:xfrm>
              <a:off x="7053190" y="545888"/>
              <a:ext cx="548640" cy="1005840"/>
            </a:xfrm>
            <a:prstGeom prst="chevron">
              <a:avLst>
                <a:gd name="adj" fmla="val 74706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4" name="Arrow: Chevron 19"/>
            <p:cNvSpPr/>
            <p:nvPr/>
          </p:nvSpPr>
          <p:spPr>
            <a:xfrm>
              <a:off x="6083373" y="545888"/>
              <a:ext cx="914400" cy="1005840"/>
            </a:xfrm>
            <a:prstGeom prst="chevron">
              <a:avLst>
                <a:gd name="adj" fmla="val 45057"/>
              </a:avLst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20" name="TextBox 19"/>
          <p:cNvSpPr txBox="1"/>
          <p:nvPr/>
        </p:nvSpPr>
        <p:spPr>
          <a:xfrm>
            <a:off x="470018" y="1563469"/>
            <a:ext cx="10762089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800" dirty="0"/>
              <a:t>After scanning the QR code and successful access, the </a:t>
            </a:r>
            <a:r>
              <a:rPr lang="en-US" sz="2800" b="1" dirty="0"/>
              <a:t>Customer</a:t>
            </a:r>
            <a:r>
              <a:rPr lang="en-US" sz="2800" dirty="0"/>
              <a:t> can</a:t>
            </a:r>
            <a:r>
              <a:rPr lang="en-US" sz="2800" dirty="0" smtClean="0"/>
              <a:t>:</a:t>
            </a:r>
          </a:p>
          <a:p>
            <a:pPr algn="just"/>
            <a:endParaRPr lang="en-IN" sz="2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View the digital food menu with categories and prices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Add food items to cart and modify quantities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Place orders directly from the table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Track real-time order status (Pending → Preparing → Completed)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Enjoy a fast, contactless dining experience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0" y="303363"/>
            <a:ext cx="6843252" cy="485248"/>
            <a:chOff x="0" y="545888"/>
            <a:chExt cx="7601830" cy="1005840"/>
          </a:xfrm>
          <a:solidFill>
            <a:srgbClr val="92D050"/>
          </a:solidFill>
        </p:grpSpPr>
        <p:sp>
          <p:nvSpPr>
            <p:cNvPr id="11" name="Arrow: Chevron 17"/>
            <p:cNvSpPr/>
            <p:nvPr/>
          </p:nvSpPr>
          <p:spPr>
            <a:xfrm>
              <a:off x="6663477" y="545888"/>
              <a:ext cx="731520" cy="1005840"/>
            </a:xfrm>
            <a:prstGeom prst="chevron">
              <a:avLst>
                <a:gd name="adj" fmla="val 56731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2" name="Arrow: Pentagon 1"/>
            <p:cNvSpPr/>
            <p:nvPr/>
          </p:nvSpPr>
          <p:spPr>
            <a:xfrm>
              <a:off x="0" y="545888"/>
              <a:ext cx="6427177" cy="1005840"/>
            </a:xfrm>
            <a:prstGeom prst="homePlate">
              <a:avLst>
                <a:gd name="adj" fmla="val 40909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dirty="0" smtClean="0">
                  <a:latin typeface="Cambria" panose="02040503050406030204" pitchFamily="18" charset="0"/>
                  <a:ea typeface="Cambria" panose="02040503050406030204" pitchFamily="18" charset="0"/>
                </a:rPr>
                <a:t>Staff </a:t>
              </a:r>
              <a:r>
                <a:rPr lang="en-US" sz="4400" dirty="0">
                  <a:latin typeface="Cambria" panose="02040503050406030204" pitchFamily="18" charset="0"/>
                  <a:ea typeface="Cambria" panose="02040503050406030204" pitchFamily="18" charset="0"/>
                </a:rPr>
                <a:t>Module</a:t>
              </a:r>
            </a:p>
          </p:txBody>
        </p:sp>
        <p:sp>
          <p:nvSpPr>
            <p:cNvPr id="13" name="Arrow: Chevron 18"/>
            <p:cNvSpPr/>
            <p:nvPr/>
          </p:nvSpPr>
          <p:spPr>
            <a:xfrm>
              <a:off x="7053190" y="545888"/>
              <a:ext cx="548640" cy="1005840"/>
            </a:xfrm>
            <a:prstGeom prst="chevron">
              <a:avLst>
                <a:gd name="adj" fmla="val 7470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4" name="Arrow: Chevron 19"/>
            <p:cNvSpPr/>
            <p:nvPr/>
          </p:nvSpPr>
          <p:spPr>
            <a:xfrm>
              <a:off x="6083373" y="545888"/>
              <a:ext cx="914400" cy="1005840"/>
            </a:xfrm>
            <a:prstGeom prst="chevron">
              <a:avLst>
                <a:gd name="adj" fmla="val 4505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20" name="TextBox 19"/>
          <p:cNvSpPr txBox="1"/>
          <p:nvPr/>
        </p:nvSpPr>
        <p:spPr>
          <a:xfrm>
            <a:off x="374484" y="1536174"/>
            <a:ext cx="11248103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buNone/>
            </a:pPr>
            <a:r>
              <a:rPr lang="en-IN" sz="2800" dirty="0">
                <a:latin typeface="Cambria" panose="02040503050406030204" pitchFamily="18" charset="0"/>
                <a:ea typeface="Cambria" panose="02040503050406030204" pitchFamily="18" charset="0"/>
              </a:rPr>
              <a:t>After successful registration and authentication from Admin , the </a:t>
            </a:r>
            <a:r>
              <a:rPr lang="en-IN" sz="2800" dirty="0" smtClean="0">
                <a:latin typeface="Cambria" panose="02040503050406030204" pitchFamily="18" charset="0"/>
                <a:ea typeface="Cambria" panose="02040503050406030204" pitchFamily="18" charset="0"/>
              </a:rPr>
              <a:t>Staff </a:t>
            </a:r>
            <a:r>
              <a:rPr lang="en-IN" sz="2800" dirty="0">
                <a:latin typeface="Cambria" panose="02040503050406030204" pitchFamily="18" charset="0"/>
                <a:ea typeface="Cambria" panose="02040503050406030204" pitchFamily="18" charset="0"/>
              </a:rPr>
              <a:t>can </a:t>
            </a:r>
            <a:endParaRPr lang="en-IN" sz="28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just">
              <a:buNone/>
            </a:pPr>
            <a:endParaRPr lang="en-IN" sz="2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View incoming customer orders in real time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Update order status (Accepted, Preparing, Ready, Completed)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Manage kitchen workflow efficiently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Reduce order mistakes caused by manual communication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Ensure faster service and better coordination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0" y="303363"/>
            <a:ext cx="6843252" cy="665628"/>
            <a:chOff x="0" y="545888"/>
            <a:chExt cx="7601830" cy="1005840"/>
          </a:xfrm>
          <a:solidFill>
            <a:schemeClr val="accent3">
              <a:lumMod val="60000"/>
              <a:lumOff val="40000"/>
            </a:schemeClr>
          </a:solidFill>
        </p:grpSpPr>
        <p:sp>
          <p:nvSpPr>
            <p:cNvPr id="11" name="Arrow: Chevron 17"/>
            <p:cNvSpPr/>
            <p:nvPr/>
          </p:nvSpPr>
          <p:spPr>
            <a:xfrm>
              <a:off x="6663477" y="545888"/>
              <a:ext cx="731520" cy="1005840"/>
            </a:xfrm>
            <a:prstGeom prst="chevron">
              <a:avLst>
                <a:gd name="adj" fmla="val 56731"/>
              </a:avLst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2" name="Arrow: Pentagon 1"/>
            <p:cNvSpPr/>
            <p:nvPr/>
          </p:nvSpPr>
          <p:spPr>
            <a:xfrm>
              <a:off x="0" y="545888"/>
              <a:ext cx="6427177" cy="1005840"/>
            </a:xfrm>
            <a:prstGeom prst="homePlate">
              <a:avLst>
                <a:gd name="adj" fmla="val 40909"/>
              </a:avLst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dirty="0">
                  <a:latin typeface="Cambria" panose="02040503050406030204" pitchFamily="18" charset="0"/>
                  <a:ea typeface="Cambria" panose="02040503050406030204" pitchFamily="18" charset="0"/>
                </a:rPr>
                <a:t>Admin Module</a:t>
              </a:r>
            </a:p>
          </p:txBody>
        </p:sp>
        <p:sp>
          <p:nvSpPr>
            <p:cNvPr id="13" name="Arrow: Chevron 18"/>
            <p:cNvSpPr/>
            <p:nvPr/>
          </p:nvSpPr>
          <p:spPr>
            <a:xfrm>
              <a:off x="7053190" y="545888"/>
              <a:ext cx="548640" cy="1005840"/>
            </a:xfrm>
            <a:prstGeom prst="chevron">
              <a:avLst>
                <a:gd name="adj" fmla="val 74706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4" name="Arrow: Chevron 19"/>
            <p:cNvSpPr/>
            <p:nvPr/>
          </p:nvSpPr>
          <p:spPr>
            <a:xfrm>
              <a:off x="6083373" y="545888"/>
              <a:ext cx="914400" cy="1005840"/>
            </a:xfrm>
            <a:prstGeom prst="chevron">
              <a:avLst>
                <a:gd name="adj" fmla="val 45057"/>
              </a:avLst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20" name="TextBox 19"/>
          <p:cNvSpPr txBox="1"/>
          <p:nvPr/>
        </p:nvSpPr>
        <p:spPr>
          <a:xfrm>
            <a:off x="374484" y="1575503"/>
            <a:ext cx="11248103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800" dirty="0"/>
              <a:t>The </a:t>
            </a:r>
            <a:r>
              <a:rPr lang="en-US" sz="2800" b="1" dirty="0"/>
              <a:t>Admin</a:t>
            </a:r>
            <a:r>
              <a:rPr lang="en-US" sz="2800" dirty="0"/>
              <a:t> has complete control over the system and can</a:t>
            </a:r>
            <a:r>
              <a:rPr lang="en-US" sz="2800" dirty="0" smtClean="0"/>
              <a:t>:</a:t>
            </a:r>
          </a:p>
          <a:p>
            <a:pPr algn="just"/>
            <a:endParaRPr lang="en-US" sz="28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Manage food menu (Add / Update / Delete items)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Manage staff accounts and roles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Monitor all customer orders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Control restaurant operations through the admin dashboard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Ensure smooth functioning of the entire system</a:t>
            </a:r>
          </a:p>
          <a:p>
            <a:pPr lvl="1" algn="just"/>
            <a:endParaRPr lang="en-IN" sz="2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8216" y="2147455"/>
            <a:ext cx="11651672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QR Code–based Ordering System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Role-based Authentication (Admin, Staff, Customer)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Real-time Order Management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Secure Login using JWT Authentication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Responsive and User-friendly UI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124691" y="512313"/>
            <a:ext cx="6843253" cy="665628"/>
            <a:chOff x="0" y="545888"/>
            <a:chExt cx="7601830" cy="1005840"/>
          </a:xfrm>
          <a:solidFill>
            <a:schemeClr val="accent3">
              <a:lumMod val="60000"/>
              <a:lumOff val="40000"/>
            </a:schemeClr>
          </a:solidFill>
        </p:grpSpPr>
        <p:sp>
          <p:nvSpPr>
            <p:cNvPr id="5" name="Arrow: Chevron 17"/>
            <p:cNvSpPr/>
            <p:nvPr/>
          </p:nvSpPr>
          <p:spPr>
            <a:xfrm>
              <a:off x="6663477" y="545888"/>
              <a:ext cx="731520" cy="1005840"/>
            </a:xfrm>
            <a:prstGeom prst="chevron">
              <a:avLst>
                <a:gd name="adj" fmla="val 56731"/>
              </a:avLst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6" name="Arrow: Pentagon 1"/>
            <p:cNvSpPr/>
            <p:nvPr/>
          </p:nvSpPr>
          <p:spPr>
            <a:xfrm>
              <a:off x="0" y="545888"/>
              <a:ext cx="6427177" cy="1005840"/>
            </a:xfrm>
            <a:prstGeom prst="homePlate">
              <a:avLst>
                <a:gd name="adj" fmla="val 40909"/>
              </a:avLst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dirty="0" smtClean="0">
                  <a:latin typeface="Cambria" panose="02040503050406030204" pitchFamily="18" charset="0"/>
                  <a:ea typeface="Cambria" panose="02040503050406030204" pitchFamily="18" charset="0"/>
                </a:rPr>
                <a:t>Key Features</a:t>
              </a:r>
              <a:endParaRPr lang="en-US" sz="4400" dirty="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7" name="Arrow: Chevron 18"/>
            <p:cNvSpPr/>
            <p:nvPr/>
          </p:nvSpPr>
          <p:spPr>
            <a:xfrm>
              <a:off x="7053190" y="545888"/>
              <a:ext cx="548640" cy="1005840"/>
            </a:xfrm>
            <a:prstGeom prst="chevron">
              <a:avLst>
                <a:gd name="adj" fmla="val 74706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8" name="Arrow: Chevron 19"/>
            <p:cNvSpPr/>
            <p:nvPr/>
          </p:nvSpPr>
          <p:spPr>
            <a:xfrm>
              <a:off x="6083373" y="545888"/>
              <a:ext cx="914400" cy="1005840"/>
            </a:xfrm>
            <a:prstGeom prst="chevron">
              <a:avLst>
                <a:gd name="adj" fmla="val 45057"/>
              </a:avLst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12363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0" y="139792"/>
            <a:ext cx="8461829" cy="963294"/>
            <a:chOff x="0" y="545888"/>
            <a:chExt cx="7601830" cy="1005840"/>
          </a:xfrm>
          <a:solidFill>
            <a:srgbClr val="92D050"/>
          </a:solidFill>
        </p:grpSpPr>
        <p:sp>
          <p:nvSpPr>
            <p:cNvPr id="20" name="Arrow: Chevron 17"/>
            <p:cNvSpPr/>
            <p:nvPr/>
          </p:nvSpPr>
          <p:spPr>
            <a:xfrm>
              <a:off x="6663477" y="545888"/>
              <a:ext cx="731520" cy="1005840"/>
            </a:xfrm>
            <a:prstGeom prst="chevron">
              <a:avLst>
                <a:gd name="adj" fmla="val 56731"/>
              </a:avLst>
            </a:prstGeom>
            <a:grpFill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" name="Arrow: Pentagon 1"/>
            <p:cNvSpPr/>
            <p:nvPr/>
          </p:nvSpPr>
          <p:spPr>
            <a:xfrm>
              <a:off x="0" y="545888"/>
              <a:ext cx="6427177" cy="1005840"/>
            </a:xfrm>
            <a:prstGeom prst="homePlate">
              <a:avLst>
                <a:gd name="adj" fmla="val 40909"/>
              </a:avLst>
            </a:prstGeom>
            <a:grpFill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lvl="0" algn="ctr">
                <a:defRPr/>
              </a:pPr>
              <a:r>
                <a:rPr lang="en-US" sz="3200" b="1" kern="0" dirty="0">
                  <a:solidFill>
                    <a:prstClr val="white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Use Case </a:t>
              </a:r>
            </a:p>
          </p:txBody>
        </p:sp>
        <p:sp>
          <p:nvSpPr>
            <p:cNvPr id="22" name="Arrow: Chevron 18"/>
            <p:cNvSpPr/>
            <p:nvPr/>
          </p:nvSpPr>
          <p:spPr>
            <a:xfrm>
              <a:off x="7053190" y="545888"/>
              <a:ext cx="548640" cy="1005840"/>
            </a:xfrm>
            <a:prstGeom prst="chevron">
              <a:avLst>
                <a:gd name="adj" fmla="val 74706"/>
              </a:avLst>
            </a:prstGeom>
            <a:grpFill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" name="Arrow: Chevron 19"/>
            <p:cNvSpPr/>
            <p:nvPr/>
          </p:nvSpPr>
          <p:spPr>
            <a:xfrm>
              <a:off x="6083373" y="545888"/>
              <a:ext cx="914400" cy="1005840"/>
            </a:xfrm>
            <a:prstGeom prst="chevron">
              <a:avLst>
                <a:gd name="adj" fmla="val 45057"/>
              </a:avLst>
            </a:prstGeom>
            <a:grpFill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25" t="2131" r="11572" b="4216"/>
          <a:stretch/>
        </p:blipFill>
        <p:spPr>
          <a:xfrm>
            <a:off x="2447306" y="1260764"/>
            <a:ext cx="7818912" cy="559723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/>
          <p:cNvGrpSpPr/>
          <p:nvPr/>
        </p:nvGrpSpPr>
        <p:grpSpPr>
          <a:xfrm>
            <a:off x="2" y="204922"/>
            <a:ext cx="4247534" cy="444007"/>
            <a:chOff x="0" y="545888"/>
            <a:chExt cx="7601830" cy="1005840"/>
          </a:xfrm>
          <a:solidFill>
            <a:srgbClr val="92D050"/>
          </a:solidFill>
        </p:grpSpPr>
        <p:sp>
          <p:nvSpPr>
            <p:cNvPr id="40" name="Arrow: Chevron 17"/>
            <p:cNvSpPr/>
            <p:nvPr/>
          </p:nvSpPr>
          <p:spPr>
            <a:xfrm>
              <a:off x="6663477" y="545888"/>
              <a:ext cx="731520" cy="1005840"/>
            </a:xfrm>
            <a:prstGeom prst="chevron">
              <a:avLst>
                <a:gd name="adj" fmla="val 56731"/>
              </a:avLst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1" name="Arrow: Pentagon 1"/>
            <p:cNvSpPr/>
            <p:nvPr/>
          </p:nvSpPr>
          <p:spPr>
            <a:xfrm>
              <a:off x="0" y="545888"/>
              <a:ext cx="6427177" cy="1005840"/>
            </a:xfrm>
            <a:prstGeom prst="homePlate">
              <a:avLst>
                <a:gd name="adj" fmla="val 40909"/>
              </a:avLst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kern="0" dirty="0">
                  <a:solidFill>
                    <a:prstClr val="white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Activity Diagram : Admin</a:t>
              </a:r>
              <a:endParaRPr kumimoji="0" lang="en-US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endParaRPr>
            </a:p>
          </p:txBody>
        </p:sp>
        <p:sp>
          <p:nvSpPr>
            <p:cNvPr id="42" name="Arrow: Chevron 18"/>
            <p:cNvSpPr/>
            <p:nvPr/>
          </p:nvSpPr>
          <p:spPr>
            <a:xfrm>
              <a:off x="7053190" y="545888"/>
              <a:ext cx="548640" cy="1005840"/>
            </a:xfrm>
            <a:prstGeom prst="chevron">
              <a:avLst>
                <a:gd name="adj" fmla="val 74706"/>
              </a:avLst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" name="Arrow: Chevron 19"/>
            <p:cNvSpPr/>
            <p:nvPr/>
          </p:nvSpPr>
          <p:spPr>
            <a:xfrm>
              <a:off x="6083373" y="545888"/>
              <a:ext cx="914400" cy="1005840"/>
            </a:xfrm>
            <a:prstGeom prst="chevron">
              <a:avLst>
                <a:gd name="adj" fmla="val 45057"/>
              </a:avLst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88" t="2053" r="21828" b="5673"/>
          <a:stretch/>
        </p:blipFill>
        <p:spPr>
          <a:xfrm>
            <a:off x="166255" y="1094508"/>
            <a:ext cx="11790218" cy="576349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/>
          <p:cNvGrpSpPr/>
          <p:nvPr/>
        </p:nvGrpSpPr>
        <p:grpSpPr>
          <a:xfrm>
            <a:off x="2" y="204922"/>
            <a:ext cx="4247534" cy="444007"/>
            <a:chOff x="0" y="545888"/>
            <a:chExt cx="7601830" cy="1005840"/>
          </a:xfrm>
          <a:solidFill>
            <a:srgbClr val="92D050"/>
          </a:solidFill>
        </p:grpSpPr>
        <p:sp>
          <p:nvSpPr>
            <p:cNvPr id="40" name="Arrow: Chevron 17"/>
            <p:cNvSpPr/>
            <p:nvPr/>
          </p:nvSpPr>
          <p:spPr>
            <a:xfrm>
              <a:off x="6663477" y="545888"/>
              <a:ext cx="731520" cy="1005840"/>
            </a:xfrm>
            <a:prstGeom prst="chevron">
              <a:avLst>
                <a:gd name="adj" fmla="val 56731"/>
              </a:avLst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1" name="Arrow: Pentagon 1"/>
            <p:cNvSpPr/>
            <p:nvPr/>
          </p:nvSpPr>
          <p:spPr>
            <a:xfrm>
              <a:off x="0" y="545888"/>
              <a:ext cx="6427177" cy="1005840"/>
            </a:xfrm>
            <a:prstGeom prst="homePlate">
              <a:avLst>
                <a:gd name="adj" fmla="val 40909"/>
              </a:avLst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kern="0" dirty="0">
                  <a:solidFill>
                    <a:prstClr val="white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Activity Diagram : </a:t>
              </a:r>
              <a:r>
                <a:rPr lang="en-US" kern="0" dirty="0" smtClean="0">
                  <a:solidFill>
                    <a:prstClr val="white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Staff</a:t>
              </a:r>
              <a:endParaRPr kumimoji="0" lang="en-US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endParaRPr>
            </a:p>
          </p:txBody>
        </p:sp>
        <p:sp>
          <p:nvSpPr>
            <p:cNvPr id="42" name="Arrow: Chevron 18"/>
            <p:cNvSpPr/>
            <p:nvPr/>
          </p:nvSpPr>
          <p:spPr>
            <a:xfrm>
              <a:off x="7053190" y="545888"/>
              <a:ext cx="548640" cy="1005840"/>
            </a:xfrm>
            <a:prstGeom prst="chevron">
              <a:avLst>
                <a:gd name="adj" fmla="val 74706"/>
              </a:avLst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" name="Arrow: Chevron 19"/>
            <p:cNvSpPr/>
            <p:nvPr/>
          </p:nvSpPr>
          <p:spPr>
            <a:xfrm>
              <a:off x="6083373" y="545888"/>
              <a:ext cx="914400" cy="1005840"/>
            </a:xfrm>
            <a:prstGeom prst="chevron">
              <a:avLst>
                <a:gd name="adj" fmla="val 45057"/>
              </a:avLst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93" t="4443" r="7300" b="1431"/>
          <a:stretch/>
        </p:blipFill>
        <p:spPr>
          <a:xfrm>
            <a:off x="788324" y="1177636"/>
            <a:ext cx="10875818" cy="491836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/>
          <p:cNvGrpSpPr/>
          <p:nvPr/>
        </p:nvGrpSpPr>
        <p:grpSpPr>
          <a:xfrm>
            <a:off x="2" y="165593"/>
            <a:ext cx="4247534" cy="444007"/>
            <a:chOff x="0" y="545888"/>
            <a:chExt cx="7601830" cy="1005840"/>
          </a:xfrm>
          <a:solidFill>
            <a:srgbClr val="92D050"/>
          </a:solidFill>
        </p:grpSpPr>
        <p:sp>
          <p:nvSpPr>
            <p:cNvPr id="40" name="Arrow: Chevron 17"/>
            <p:cNvSpPr/>
            <p:nvPr/>
          </p:nvSpPr>
          <p:spPr>
            <a:xfrm>
              <a:off x="6663477" y="545888"/>
              <a:ext cx="731520" cy="1005840"/>
            </a:xfrm>
            <a:prstGeom prst="chevron">
              <a:avLst>
                <a:gd name="adj" fmla="val 56731"/>
              </a:avLst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1" name="Arrow: Pentagon 1"/>
            <p:cNvSpPr/>
            <p:nvPr/>
          </p:nvSpPr>
          <p:spPr>
            <a:xfrm>
              <a:off x="0" y="545888"/>
              <a:ext cx="6427177" cy="1005840"/>
            </a:xfrm>
            <a:prstGeom prst="homePlate">
              <a:avLst>
                <a:gd name="adj" fmla="val 40909"/>
              </a:avLst>
            </a:prstGeom>
            <a:grpFill/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kern="0" dirty="0">
                  <a:solidFill>
                    <a:prstClr val="white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Activity Diagram : Customer</a:t>
              </a:r>
              <a:endParaRPr kumimoji="0" lang="en-US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endParaRPr>
            </a:p>
          </p:txBody>
        </p:sp>
        <p:sp>
          <p:nvSpPr>
            <p:cNvPr id="42" name="Arrow: Chevron 18"/>
            <p:cNvSpPr/>
            <p:nvPr/>
          </p:nvSpPr>
          <p:spPr>
            <a:xfrm>
              <a:off x="7053190" y="545888"/>
              <a:ext cx="548640" cy="1005840"/>
            </a:xfrm>
            <a:prstGeom prst="chevron">
              <a:avLst>
                <a:gd name="adj" fmla="val 74706"/>
              </a:avLst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" name="Arrow: Chevron 19"/>
            <p:cNvSpPr/>
            <p:nvPr/>
          </p:nvSpPr>
          <p:spPr>
            <a:xfrm>
              <a:off x="6083373" y="545888"/>
              <a:ext cx="914400" cy="1005840"/>
            </a:xfrm>
            <a:prstGeom prst="chevron">
              <a:avLst>
                <a:gd name="adj" fmla="val 45057"/>
              </a:avLst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4" t="3512" r="31010" b="7268"/>
          <a:stretch/>
        </p:blipFill>
        <p:spPr>
          <a:xfrm>
            <a:off x="166255" y="748145"/>
            <a:ext cx="11220883" cy="543098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090" y="710392"/>
            <a:ext cx="10058400" cy="565156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22218" y="290945"/>
            <a:ext cx="55972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Login Page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5851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447" y="748146"/>
            <a:ext cx="10058400" cy="57144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99447" y="378814"/>
            <a:ext cx="79663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Sign Up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52307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447" y="748146"/>
            <a:ext cx="10058400" cy="572071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99447" y="378814"/>
            <a:ext cx="79663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Dashboard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53200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382" y="720437"/>
            <a:ext cx="10058400" cy="570814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99447" y="378814"/>
            <a:ext cx="79663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Staff Dashboard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99029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164" y="637308"/>
            <a:ext cx="10058400" cy="570814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99447" y="267976"/>
            <a:ext cx="79663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Staff Manages Order &amp; its Status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19815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836" y="706582"/>
            <a:ext cx="10058400" cy="570814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99447" y="378814"/>
            <a:ext cx="79663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Admin Dashboard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96390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883" y="872836"/>
            <a:ext cx="10058400" cy="57144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99447" y="378814"/>
            <a:ext cx="79663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Orders view -Admin 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01180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064" y="748146"/>
            <a:ext cx="10058400" cy="57144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99447" y="378814"/>
            <a:ext cx="79663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Menu management  view -Admin 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13323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4618" y="783475"/>
            <a:ext cx="10058400" cy="564527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99447" y="378814"/>
            <a:ext cx="79663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Staff Management  -Admin 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1904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146" y="904356"/>
            <a:ext cx="10058400" cy="565156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99447" y="378814"/>
            <a:ext cx="79663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view -Admin 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01478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265917" y="2967335"/>
            <a:ext cx="366016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Thank You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over and End Slide Master">
  <a:themeElements>
    <a:clrScheme name="ALLPPT-COLOR-145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E6CC1"/>
      </a:accent1>
      <a:accent2>
        <a:srgbClr val="B982D5"/>
      </a:accent2>
      <a:accent3>
        <a:srgbClr val="6DB0E4"/>
      </a:accent3>
      <a:accent4>
        <a:srgbClr val="47D3DC"/>
      </a:accent4>
      <a:accent5>
        <a:srgbClr val="476ADD"/>
      </a:accent5>
      <a:accent6>
        <a:srgbClr val="5A28C8"/>
      </a:accent6>
      <a:hlink>
        <a:srgbClr val="FFFF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ntents Slide Master">
  <a:themeElements>
    <a:clrScheme name="ALLPPT-COLOR-145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E6CC1"/>
      </a:accent1>
      <a:accent2>
        <a:srgbClr val="B982D5"/>
      </a:accent2>
      <a:accent3>
        <a:srgbClr val="6DB0E4"/>
      </a:accent3>
      <a:accent4>
        <a:srgbClr val="47D3DC"/>
      </a:accent4>
      <a:accent5>
        <a:srgbClr val="476ADD"/>
      </a:accent5>
      <a:accent6>
        <a:srgbClr val="5A28C8"/>
      </a:accent6>
      <a:hlink>
        <a:srgbClr val="FFFF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Section Break Slide Master">
  <a:themeElements>
    <a:clrScheme name="ALLPPT-COLOR-145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E6CC1"/>
      </a:accent1>
      <a:accent2>
        <a:srgbClr val="B982D5"/>
      </a:accent2>
      <a:accent3>
        <a:srgbClr val="6DB0E4"/>
      </a:accent3>
      <a:accent4>
        <a:srgbClr val="47D3DC"/>
      </a:accent4>
      <a:accent5>
        <a:srgbClr val="476ADD"/>
      </a:accent5>
      <a:accent6>
        <a:srgbClr val="5A28C8"/>
      </a:accent6>
      <a:hlink>
        <a:srgbClr val="FFFF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188</TotalTime>
  <Words>409</Words>
  <Application>Microsoft Office PowerPoint</Application>
  <PresentationFormat>Widescreen</PresentationFormat>
  <Paragraphs>100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24</vt:i4>
      </vt:variant>
    </vt:vector>
  </HeadingPairs>
  <TitlesOfParts>
    <vt:vector size="36" baseType="lpstr">
      <vt:lpstr>Arial Unicode MS</vt:lpstr>
      <vt:lpstr>맑은 고딕</vt:lpstr>
      <vt:lpstr>Algerian</vt:lpstr>
      <vt:lpstr>Arial</vt:lpstr>
      <vt:lpstr>Calibri</vt:lpstr>
      <vt:lpstr>Calibri Light</vt:lpstr>
      <vt:lpstr>Cambria</vt:lpstr>
      <vt:lpstr>Times New Roman</vt:lpstr>
      <vt:lpstr>Wingdings</vt:lpstr>
      <vt:lpstr>Cover and End Slide Master</vt:lpstr>
      <vt:lpstr>Contents Slide Master</vt:lpstr>
      <vt:lpstr>Section Break Slide Master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Allppt.com</dc:creator>
  <cp:lastModifiedBy>lenovo</cp:lastModifiedBy>
  <cp:revision>135</cp:revision>
  <dcterms:created xsi:type="dcterms:W3CDTF">2020-01-20T05:08:00Z</dcterms:created>
  <dcterms:modified xsi:type="dcterms:W3CDTF">2026-02-03T06:39:51Z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EB68A63128FB4312BCDA85EF8E24A48D_12</vt:lpwstr>
  </property>
  <property fmtid="{D5CDD505-2E9C-101B-9397-08002B2CF9AE}" pid="3" name="KSOProductBuildVer">
    <vt:lpwstr>1033-12.2.0.13472</vt:lpwstr>
  </property>
</Properties>
</file>